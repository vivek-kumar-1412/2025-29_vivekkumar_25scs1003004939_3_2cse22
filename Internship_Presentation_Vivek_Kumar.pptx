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241C"/>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43302A"/>
          </a:solidFill>
          <a:ln/>
        </p:spPr>
      </p:sp>
      <p:sp>
        <p:nvSpPr>
          <p:cNvPr id="3" name="Shape 1"/>
          <p:cNvSpPr/>
          <p:nvPr/>
        </p:nvSpPr>
        <p:spPr>
          <a:xfrm>
            <a:off x="-1645920" y="4754880"/>
            <a:ext cx="3840480" cy="3840480"/>
          </a:xfrm>
          <a:prstGeom prst="ellipse">
            <a:avLst/>
          </a:prstGeom>
          <a:solidFill>
            <a:srgbClr val="43302A"/>
          </a:solidFill>
          <a:ln/>
        </p:spPr>
      </p:sp>
      <p:sp>
        <p:nvSpPr>
          <p:cNvPr id="4" name="Shape 2"/>
          <p:cNvSpPr/>
          <p:nvPr/>
        </p:nvSpPr>
        <p:spPr>
          <a:xfrm>
            <a:off x="685800" y="502920"/>
            <a:ext cx="960120" cy="960120"/>
          </a:xfrm>
          <a:prstGeom prst="ellipse">
            <a:avLst/>
          </a:prstGeom>
          <a:solidFill>
            <a:srgbClr val="FFFFFF"/>
          </a:solidFill>
          <a:ln/>
        </p:spPr>
      </p:sp>
      <p:pic>
        <p:nvPicPr>
          <p:cNvPr id="5" name="Image 0" descr="assets/img-000.png">    </p:cNvPr>
          <p:cNvPicPr>
            <a:picLocks noChangeAspect="1"/>
          </p:cNvPicPr>
          <p:nvPr/>
        </p:nvPicPr>
        <p:blipFill>
          <a:blip r:embed="rId1"/>
          <a:stretch>
            <a:fillRect/>
          </a:stretch>
        </p:blipFill>
        <p:spPr>
          <a:xfrm>
            <a:off x="841248" y="640080"/>
            <a:ext cx="658368" cy="704088"/>
          </a:xfrm>
          <a:prstGeom prst="rect">
            <a:avLst/>
          </a:prstGeom>
        </p:spPr>
      </p:pic>
      <p:sp>
        <p:nvSpPr>
          <p:cNvPr id="6" name="Text 3"/>
          <p:cNvSpPr txBox="1"/>
          <p:nvPr/>
        </p:nvSpPr>
        <p:spPr>
          <a:xfrm>
            <a:off x="1828800" y="594360"/>
            <a:ext cx="7315200" cy="365760"/>
          </a:xfrm>
          <a:prstGeom prst="rect">
            <a:avLst/>
          </a:prstGeom>
          <a:noFill/>
          <a:ln/>
        </p:spPr>
        <p:txBody>
          <a:bodyPr wrap="square" lIns="0" tIns="0" rIns="0" bIns="0" rtlCol="0" anchor="ctr"/>
          <a:lstStyle/>
          <a:p>
            <a:pPr indent="0" marL="0">
              <a:buNone/>
            </a:pPr>
            <a:r>
              <a:rPr lang="en-US" sz="1500" b="1" spc="150" kern="0" dirty="0">
                <a:solidFill>
                  <a:srgbClr val="F3EFE6"/>
                </a:solidFill>
                <a:latin typeface="Calibri" pitchFamily="34" charset="0"/>
                <a:ea typeface="Calibri" pitchFamily="34" charset="-122"/>
                <a:cs typeface="Calibri" pitchFamily="34" charset="-120"/>
              </a:rPr>
              <a:t>IILM UNIVERSITY, GREATER NOIDA</a:t>
            </a:r>
            <a:endParaRPr lang="en-US" sz="1500" dirty="0"/>
          </a:p>
        </p:txBody>
      </p:sp>
      <p:sp>
        <p:nvSpPr>
          <p:cNvPr id="7" name="Text 4"/>
          <p:cNvSpPr txBox="1"/>
          <p:nvPr/>
        </p:nvSpPr>
        <p:spPr>
          <a:xfrm>
            <a:off x="1828800" y="914400"/>
            <a:ext cx="7315200" cy="320040"/>
          </a:xfrm>
          <a:prstGeom prst="rect">
            <a:avLst/>
          </a:prstGeom>
          <a:noFill/>
          <a:ln/>
        </p:spPr>
        <p:txBody>
          <a:bodyPr wrap="square" lIns="0" tIns="0" rIns="0" bIns="0" rtlCol="0" anchor="ctr"/>
          <a:lstStyle/>
          <a:p>
            <a:pPr indent="0" marL="0">
              <a:buNone/>
            </a:pPr>
            <a:r>
              <a:rPr lang="en-US" sz="1200" dirty="0">
                <a:solidFill>
                  <a:srgbClr val="C9B8AE"/>
                </a:solidFill>
                <a:latin typeface="Calibri" pitchFamily="34" charset="0"/>
                <a:ea typeface="Calibri" pitchFamily="34" charset="-122"/>
                <a:cs typeface="Calibri" pitchFamily="34" charset="-120"/>
              </a:rPr>
              <a:t>School of Computer Science and Engineering</a:t>
            </a:r>
            <a:endParaRPr lang="en-US" sz="1200" dirty="0"/>
          </a:p>
        </p:txBody>
      </p:sp>
      <p:sp>
        <p:nvSpPr>
          <p:cNvPr id="8" name="Text 5"/>
          <p:cNvSpPr txBox="1"/>
          <p:nvPr/>
        </p:nvSpPr>
        <p:spPr>
          <a:xfrm>
            <a:off x="640080" y="2331720"/>
            <a:ext cx="8229600" cy="365760"/>
          </a:xfrm>
          <a:prstGeom prst="rect">
            <a:avLst/>
          </a:prstGeom>
          <a:noFill/>
          <a:ln/>
        </p:spPr>
        <p:txBody>
          <a:bodyPr wrap="square" lIns="0" tIns="0" rIns="0" bIns="0" rtlCol="0" anchor="ctr"/>
          <a:lstStyle/>
          <a:p>
            <a:pPr indent="0" marL="0">
              <a:buNone/>
            </a:pPr>
            <a:r>
              <a:rPr lang="en-US" sz="1400" b="1" spc="300" kern="0" dirty="0">
                <a:solidFill>
                  <a:srgbClr val="B85042"/>
                </a:solidFill>
                <a:latin typeface="Calibri" pitchFamily="34" charset="0"/>
                <a:ea typeface="Calibri" pitchFamily="34" charset="-122"/>
                <a:cs typeface="Calibri" pitchFamily="34" charset="-120"/>
              </a:rPr>
              <a:t>AN INTERNSHIP REPORT</a:t>
            </a:r>
            <a:endParaRPr lang="en-US" sz="1400" dirty="0"/>
          </a:p>
        </p:txBody>
      </p:sp>
      <p:sp>
        <p:nvSpPr>
          <p:cNvPr id="9" name="Text 6"/>
          <p:cNvSpPr txBox="1"/>
          <p:nvPr/>
        </p:nvSpPr>
        <p:spPr>
          <a:xfrm>
            <a:off x="621792" y="2697480"/>
            <a:ext cx="9875520" cy="173736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Community Teaching &amp;</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Social Outreach Programme</a:t>
            </a:r>
            <a:endParaRPr lang="en-US" sz="4200" dirty="0"/>
          </a:p>
        </p:txBody>
      </p:sp>
      <p:sp>
        <p:nvSpPr>
          <p:cNvPr id="10" name="Shape 7"/>
          <p:cNvSpPr/>
          <p:nvPr/>
        </p:nvSpPr>
        <p:spPr>
          <a:xfrm>
            <a:off x="640080" y="4434840"/>
            <a:ext cx="640080" cy="64008"/>
          </a:xfrm>
          <a:prstGeom prst="roundRect">
            <a:avLst>
              <a:gd name="adj" fmla="val 50000"/>
            </a:avLst>
          </a:prstGeom>
          <a:solidFill>
            <a:srgbClr val="A7BEAE"/>
          </a:solidFill>
          <a:ln/>
        </p:spPr>
      </p:sp>
      <p:sp>
        <p:nvSpPr>
          <p:cNvPr id="11" name="Shape 8"/>
          <p:cNvSpPr/>
          <p:nvPr/>
        </p:nvSpPr>
        <p:spPr>
          <a:xfrm>
            <a:off x="640080" y="4343400"/>
            <a:ext cx="7863840" cy="2331720"/>
          </a:xfrm>
          <a:prstGeom prst="roundRect">
            <a:avLst>
              <a:gd name="adj" fmla="val 3137"/>
            </a:avLst>
          </a:prstGeom>
          <a:solidFill>
            <a:srgbClr val="43302A"/>
          </a:solidFill>
          <a:ln/>
        </p:spPr>
      </p:sp>
      <p:sp>
        <p:nvSpPr>
          <p:cNvPr id="12" name="Text 9"/>
          <p:cNvSpPr txBox="1"/>
          <p:nvPr/>
        </p:nvSpPr>
        <p:spPr>
          <a:xfrm>
            <a:off x="914400" y="4526280"/>
            <a:ext cx="3657600" cy="256032"/>
          </a:xfrm>
          <a:prstGeom prst="rect">
            <a:avLst/>
          </a:prstGeom>
          <a:noFill/>
          <a:ln/>
        </p:spPr>
        <p:txBody>
          <a:bodyPr wrap="square" lIns="0" tIns="0" rIns="0" bIns="0" rtlCol="0" anchor="ctr"/>
          <a:lstStyle/>
          <a:p>
            <a:pPr indent="0" marL="0">
              <a:buNone/>
            </a:pPr>
            <a:r>
              <a:rPr lang="en-US" sz="1000" b="1" spc="120" kern="0" dirty="0">
                <a:solidFill>
                  <a:srgbClr val="A7BEAE"/>
                </a:solidFill>
                <a:latin typeface="Calibri" pitchFamily="34" charset="0"/>
                <a:ea typeface="Calibri" pitchFamily="34" charset="-122"/>
                <a:cs typeface="Calibri" pitchFamily="34" charset="-120"/>
              </a:rPr>
              <a:t>STUDENT NAME</a:t>
            </a:r>
            <a:endParaRPr lang="en-US" sz="1000" dirty="0"/>
          </a:p>
        </p:txBody>
      </p:sp>
      <p:sp>
        <p:nvSpPr>
          <p:cNvPr id="13" name="Text 10"/>
          <p:cNvSpPr txBox="1"/>
          <p:nvPr/>
        </p:nvSpPr>
        <p:spPr>
          <a:xfrm>
            <a:off x="914400" y="4764024"/>
            <a:ext cx="36576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Vivek Kumar</a:t>
            </a:r>
            <a:endParaRPr lang="en-US" sz="1350" dirty="0"/>
          </a:p>
        </p:txBody>
      </p:sp>
      <p:sp>
        <p:nvSpPr>
          <p:cNvPr id="14" name="Text 11"/>
          <p:cNvSpPr txBox="1"/>
          <p:nvPr/>
        </p:nvSpPr>
        <p:spPr>
          <a:xfrm>
            <a:off x="4892040" y="4526280"/>
            <a:ext cx="3657600" cy="256032"/>
          </a:xfrm>
          <a:prstGeom prst="rect">
            <a:avLst/>
          </a:prstGeom>
          <a:noFill/>
          <a:ln/>
        </p:spPr>
        <p:txBody>
          <a:bodyPr wrap="square" lIns="0" tIns="0" rIns="0" bIns="0" rtlCol="0" anchor="ctr"/>
          <a:lstStyle/>
          <a:p>
            <a:pPr indent="0" marL="0">
              <a:buNone/>
            </a:pPr>
            <a:r>
              <a:rPr lang="en-US" sz="1000" b="1" spc="120" kern="0" dirty="0">
                <a:solidFill>
                  <a:srgbClr val="A7BEAE"/>
                </a:solidFill>
                <a:latin typeface="Calibri" pitchFamily="34" charset="0"/>
                <a:ea typeface="Calibri" pitchFamily="34" charset="-122"/>
                <a:cs typeface="Calibri" pitchFamily="34" charset="-120"/>
              </a:rPr>
              <a:t>ENROLLMENT NUMBER</a:t>
            </a:r>
            <a:endParaRPr lang="en-US" sz="1000" dirty="0"/>
          </a:p>
        </p:txBody>
      </p:sp>
      <p:sp>
        <p:nvSpPr>
          <p:cNvPr id="15" name="Text 12"/>
          <p:cNvSpPr txBox="1"/>
          <p:nvPr/>
        </p:nvSpPr>
        <p:spPr>
          <a:xfrm>
            <a:off x="4892040" y="4764024"/>
            <a:ext cx="36576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25SCS1003004939</a:t>
            </a:r>
            <a:endParaRPr lang="en-US" sz="1350" dirty="0"/>
          </a:p>
        </p:txBody>
      </p:sp>
      <p:sp>
        <p:nvSpPr>
          <p:cNvPr id="16" name="Text 13"/>
          <p:cNvSpPr txBox="1"/>
          <p:nvPr/>
        </p:nvSpPr>
        <p:spPr>
          <a:xfrm>
            <a:off x="914400" y="5257800"/>
            <a:ext cx="7223760" cy="256032"/>
          </a:xfrm>
          <a:prstGeom prst="rect">
            <a:avLst/>
          </a:prstGeom>
          <a:noFill/>
          <a:ln/>
        </p:spPr>
        <p:txBody>
          <a:bodyPr wrap="square" lIns="0" tIns="0" rIns="0" bIns="0" rtlCol="0" anchor="ctr"/>
          <a:lstStyle/>
          <a:p>
            <a:pPr indent="0" marL="0">
              <a:buNone/>
            </a:pPr>
            <a:r>
              <a:rPr lang="en-US" sz="1000" b="1" spc="120" kern="0" dirty="0">
                <a:solidFill>
                  <a:srgbClr val="A7BEAE"/>
                </a:solidFill>
                <a:latin typeface="Calibri" pitchFamily="34" charset="0"/>
                <a:ea typeface="Calibri" pitchFamily="34" charset="-122"/>
                <a:cs typeface="Calibri" pitchFamily="34" charset="-120"/>
              </a:rPr>
              <a:t>PROGRAM &amp; SEMESTER</a:t>
            </a:r>
            <a:endParaRPr lang="en-US" sz="1000" dirty="0"/>
          </a:p>
        </p:txBody>
      </p:sp>
      <p:sp>
        <p:nvSpPr>
          <p:cNvPr id="17" name="Text 14"/>
          <p:cNvSpPr txBox="1"/>
          <p:nvPr/>
        </p:nvSpPr>
        <p:spPr>
          <a:xfrm>
            <a:off x="914400" y="5495544"/>
            <a:ext cx="72237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B.Tech CSE (AI/ML) — in collaboration with IBM</a:t>
            </a:r>
            <a:endParaRPr lang="en-US" sz="1350" dirty="0"/>
          </a:p>
        </p:txBody>
      </p:sp>
      <p:sp>
        <p:nvSpPr>
          <p:cNvPr id="18" name="Text 15"/>
          <p:cNvSpPr txBox="1"/>
          <p:nvPr/>
        </p:nvSpPr>
        <p:spPr>
          <a:xfrm>
            <a:off x="914400" y="5989320"/>
            <a:ext cx="7223760" cy="256032"/>
          </a:xfrm>
          <a:prstGeom prst="rect">
            <a:avLst/>
          </a:prstGeom>
          <a:noFill/>
          <a:ln/>
        </p:spPr>
        <p:txBody>
          <a:bodyPr wrap="square" lIns="0" tIns="0" rIns="0" bIns="0" rtlCol="0" anchor="ctr"/>
          <a:lstStyle/>
          <a:p>
            <a:pPr indent="0" marL="0">
              <a:buNone/>
            </a:pPr>
            <a:r>
              <a:rPr lang="en-US" sz="1000" b="1" spc="120" kern="0" dirty="0">
                <a:solidFill>
                  <a:srgbClr val="A7BEAE"/>
                </a:solidFill>
                <a:latin typeface="Calibri" pitchFamily="34" charset="0"/>
                <a:ea typeface="Calibri" pitchFamily="34" charset="-122"/>
                <a:cs typeface="Calibri" pitchFamily="34" charset="-120"/>
              </a:rPr>
              <a:t>ORGANIZATION</a:t>
            </a:r>
            <a:endParaRPr lang="en-US" sz="1000" dirty="0"/>
          </a:p>
        </p:txBody>
      </p:sp>
      <p:sp>
        <p:nvSpPr>
          <p:cNvPr id="19" name="Text 16"/>
          <p:cNvSpPr txBox="1"/>
          <p:nvPr/>
        </p:nvSpPr>
        <p:spPr>
          <a:xfrm>
            <a:off x="914400" y="6227064"/>
            <a:ext cx="72237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Mahila SewaShakti Foundation</a:t>
            </a:r>
            <a:endParaRPr lang="en-US" sz="1350" dirty="0"/>
          </a:p>
        </p:txBody>
      </p:sp>
      <p:pic>
        <p:nvPicPr>
          <p:cNvPr id="20" name="Image 1" descr="assets/img-004.png">    </p:cNvPr>
          <p:cNvPicPr>
            <a:picLocks noChangeAspect="1"/>
          </p:cNvPicPr>
          <p:nvPr/>
        </p:nvPicPr>
        <p:blipFill>
          <a:blip r:embed="rId2"/>
          <a:stretch>
            <a:fillRect/>
          </a:stretch>
        </p:blipFill>
        <p:spPr>
          <a:xfrm>
            <a:off x="8321040" y="1600200"/>
            <a:ext cx="3246120" cy="1459351"/>
          </a:xfrm>
          <a:prstGeom prst="rect">
            <a:avLst/>
          </a:prstGeom>
        </p:spPr>
      </p:pic>
      <p:sp>
        <p:nvSpPr>
          <p:cNvPr id="21" name="Shape 17"/>
          <p:cNvSpPr/>
          <p:nvPr/>
        </p:nvSpPr>
        <p:spPr>
          <a:xfrm>
            <a:off x="8321040" y="1600200"/>
            <a:ext cx="3246120" cy="1459351"/>
          </a:xfrm>
          <a:prstGeom prst="rect">
            <a:avLst/>
          </a:prstGeom>
          <a:ln w="28575">
            <a:solidFill>
              <a:srgbClr val="B85042"/>
            </a:solidFill>
            <a:prstDash val="solid"/>
          </a:ln>
        </p:spPr>
      </p:sp>
      <p:sp>
        <p:nvSpPr>
          <p:cNvPr id="22" name="Text 18"/>
          <p:cNvSpPr txBox="1"/>
          <p:nvPr/>
        </p:nvSpPr>
        <p:spPr>
          <a:xfrm>
            <a:off x="8321040" y="3169279"/>
            <a:ext cx="3246120" cy="502920"/>
          </a:xfrm>
          <a:prstGeom prst="rect">
            <a:avLst/>
          </a:prstGeom>
          <a:noFill/>
          <a:ln/>
        </p:spPr>
        <p:txBody>
          <a:bodyPr wrap="square" lIns="0" tIns="0" rIns="0" bIns="0" rtlCol="0" anchor="ctr"/>
          <a:lstStyle/>
          <a:p>
            <a:pPr indent="0" marL="0">
              <a:lnSpc>
                <a:spcPts val="1400"/>
              </a:lnSpc>
              <a:buNone/>
            </a:pPr>
            <a:r>
              <a:rPr lang="en-US" sz="1050" i="1" dirty="0">
                <a:solidFill>
                  <a:srgbClr val="C9B8AE"/>
                </a:solidFill>
                <a:latin typeface="Calibri" pitchFamily="34" charset="0"/>
                <a:ea typeface="Calibri" pitchFamily="34" charset="-122"/>
                <a:cs typeface="Calibri" pitchFamily="34" charset="-120"/>
              </a:rPr>
              <a:t>Whiteboard teaching session at the centre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4.1</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Introduction</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sp>
        <p:nvSpPr>
          <p:cNvPr id="5" name="Text 3"/>
          <p:cNvSpPr txBox="1"/>
          <p:nvPr/>
        </p:nvSpPr>
        <p:spPr>
          <a:xfrm>
            <a:off x="548640" y="1691640"/>
            <a:ext cx="6309360" cy="1188720"/>
          </a:xfrm>
          <a:prstGeom prst="rect">
            <a:avLst/>
          </a:prstGeom>
          <a:noFill/>
          <a:ln/>
        </p:spPr>
        <p:txBody>
          <a:bodyPr wrap="square" lIns="0" tIns="0" rIns="0" bIns="0" rtlCol="0" anchor="ctr"/>
          <a:lstStyle/>
          <a:p>
            <a:pPr indent="0" marL="0">
              <a:lnSpc>
                <a:spcPts val="2200"/>
              </a:lnSpc>
              <a:buNone/>
            </a:pPr>
            <a:r>
              <a:rPr lang="en-US" sz="1500" dirty="0">
                <a:solidFill>
                  <a:srgbClr val="3A2A22"/>
                </a:solidFill>
                <a:latin typeface="Calibri" pitchFamily="34" charset="0"/>
                <a:ea typeface="Calibri" pitchFamily="34" charset="-122"/>
                <a:cs typeface="Calibri" pitchFamily="34" charset="-120"/>
              </a:rPr>
              <a:t>This report presents a detailed account of the social internship undertaken with Mahila SewaShakti Foundation, as part of the B.Tech (CSE) requirement at IILM University, Greater Noida.</a:t>
            </a:r>
            <a:endParaRPr lang="en-US" sz="1500" dirty="0"/>
          </a:p>
        </p:txBody>
      </p:sp>
      <p:sp>
        <p:nvSpPr>
          <p:cNvPr id="6" name="Text 4"/>
          <p:cNvSpPr txBox="1"/>
          <p:nvPr/>
        </p:nvSpPr>
        <p:spPr>
          <a:xfrm>
            <a:off x="548640" y="2880360"/>
            <a:ext cx="6309360" cy="1463040"/>
          </a:xfrm>
          <a:prstGeom prst="rect">
            <a:avLst/>
          </a:prstGeom>
          <a:noFill/>
          <a:ln/>
        </p:spPr>
        <p:txBody>
          <a:bodyPr wrap="square" lIns="0" tIns="0" rIns="0" bIns="0" rtlCol="0" anchor="ctr"/>
          <a:lstStyle/>
          <a:p>
            <a:pPr indent="0" marL="0">
              <a:lnSpc>
                <a:spcPts val="2200"/>
              </a:lnSpc>
              <a:buNone/>
            </a:pPr>
            <a:r>
              <a:rPr lang="en-US" sz="1500" dirty="0">
                <a:solidFill>
                  <a:srgbClr val="3A2A22"/>
                </a:solidFill>
                <a:latin typeface="Calibri" pitchFamily="34" charset="0"/>
                <a:ea typeface="Calibri" pitchFamily="34" charset="-122"/>
                <a:cs typeface="Calibri" pitchFamily="34" charset="-120"/>
              </a:rPr>
              <a:t>Unlike a conventional technical internship, this was a group social internship in which the team taught students of Classes 1st, 3rd and 5th — strengthening their academic foundation while building communication, patience, teamwork and social responsibility.</a:t>
            </a:r>
            <a:endParaRPr lang="en-US" sz="1500" dirty="0"/>
          </a:p>
        </p:txBody>
      </p:sp>
      <p:sp>
        <p:nvSpPr>
          <p:cNvPr id="7" name="Shape 5"/>
          <p:cNvSpPr/>
          <p:nvPr/>
        </p:nvSpPr>
        <p:spPr>
          <a:xfrm>
            <a:off x="548640" y="4617720"/>
            <a:ext cx="1920240" cy="1417320"/>
          </a:xfrm>
          <a:prstGeom prst="roundRect">
            <a:avLst>
              <a:gd name="adj" fmla="val 5161"/>
            </a:avLst>
          </a:prstGeom>
          <a:solidFill>
            <a:srgbClr val="F3EFE6"/>
          </a:solidFill>
          <a:ln/>
        </p:spPr>
      </p:sp>
      <p:sp>
        <p:nvSpPr>
          <p:cNvPr id="8" name="Text 6"/>
          <p:cNvSpPr txBox="1"/>
          <p:nvPr/>
        </p:nvSpPr>
        <p:spPr>
          <a:xfrm>
            <a:off x="548640" y="4736592"/>
            <a:ext cx="1920240" cy="685800"/>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4</a:t>
            </a:r>
            <a:endParaRPr lang="en-US" sz="3000" dirty="0"/>
          </a:p>
        </p:txBody>
      </p:sp>
      <p:sp>
        <p:nvSpPr>
          <p:cNvPr id="9" name="Text 7"/>
          <p:cNvSpPr txBox="1"/>
          <p:nvPr/>
        </p:nvSpPr>
        <p:spPr>
          <a:xfrm>
            <a:off x="640080" y="5394960"/>
            <a:ext cx="1737360" cy="548640"/>
          </a:xfrm>
          <a:prstGeom prst="rect">
            <a:avLst/>
          </a:prstGeom>
          <a:noFill/>
          <a:ln/>
        </p:spPr>
        <p:txBody>
          <a:bodyPr wrap="square" lIns="0" tIns="0" rIns="0" bIns="0" rtlCol="0" anchor="ctr"/>
          <a:lstStyle/>
          <a:p>
            <a:pPr algn="ctr" indent="0" marL="0">
              <a:buNone/>
            </a:pPr>
            <a:r>
              <a:rPr lang="en-US" sz="1100" dirty="0">
                <a:solidFill>
                  <a:srgbClr val="7A6A61"/>
                </a:solidFill>
                <a:latin typeface="Calibri" pitchFamily="34" charset="0"/>
                <a:ea typeface="Calibri" pitchFamily="34" charset="-122"/>
                <a:cs typeface="Calibri" pitchFamily="34" charset="-120"/>
              </a:rPr>
              <a:t>Weekly sessions</a:t>
            </a:r>
            <a:endParaRPr lang="en-US" sz="1100" dirty="0"/>
          </a:p>
        </p:txBody>
      </p:sp>
      <p:sp>
        <p:nvSpPr>
          <p:cNvPr id="10" name="Shape 8"/>
          <p:cNvSpPr/>
          <p:nvPr/>
        </p:nvSpPr>
        <p:spPr>
          <a:xfrm>
            <a:off x="2651760" y="4617720"/>
            <a:ext cx="1920240" cy="1417320"/>
          </a:xfrm>
          <a:prstGeom prst="roundRect">
            <a:avLst>
              <a:gd name="adj" fmla="val 5161"/>
            </a:avLst>
          </a:prstGeom>
          <a:solidFill>
            <a:srgbClr val="F3EFE6"/>
          </a:solidFill>
          <a:ln/>
        </p:spPr>
      </p:sp>
      <p:sp>
        <p:nvSpPr>
          <p:cNvPr id="11" name="Text 9"/>
          <p:cNvSpPr txBox="1"/>
          <p:nvPr/>
        </p:nvSpPr>
        <p:spPr>
          <a:xfrm>
            <a:off x="2651760" y="4736592"/>
            <a:ext cx="1920240" cy="685800"/>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2 hrs</a:t>
            </a:r>
            <a:endParaRPr lang="en-US" sz="3000" dirty="0"/>
          </a:p>
        </p:txBody>
      </p:sp>
      <p:sp>
        <p:nvSpPr>
          <p:cNvPr id="12" name="Text 10"/>
          <p:cNvSpPr txBox="1"/>
          <p:nvPr/>
        </p:nvSpPr>
        <p:spPr>
          <a:xfrm>
            <a:off x="2743200" y="5394960"/>
            <a:ext cx="1737360" cy="548640"/>
          </a:xfrm>
          <a:prstGeom prst="rect">
            <a:avLst/>
          </a:prstGeom>
          <a:noFill/>
          <a:ln/>
        </p:spPr>
        <p:txBody>
          <a:bodyPr wrap="square" lIns="0" tIns="0" rIns="0" bIns="0" rtlCol="0" anchor="ctr"/>
          <a:lstStyle/>
          <a:p>
            <a:pPr algn="ctr" indent="0" marL="0">
              <a:buNone/>
            </a:pPr>
            <a:r>
              <a:rPr lang="en-US" sz="1100" dirty="0">
                <a:solidFill>
                  <a:srgbClr val="7A6A61"/>
                </a:solidFill>
                <a:latin typeface="Calibri" pitchFamily="34" charset="0"/>
                <a:ea typeface="Calibri" pitchFamily="34" charset="-122"/>
                <a:cs typeface="Calibri" pitchFamily="34" charset="-120"/>
              </a:rPr>
              <a:t>Per session</a:t>
            </a:r>
            <a:endParaRPr lang="en-US" sz="1100" dirty="0"/>
          </a:p>
        </p:txBody>
      </p:sp>
      <p:sp>
        <p:nvSpPr>
          <p:cNvPr id="13" name="Shape 11"/>
          <p:cNvSpPr/>
          <p:nvPr/>
        </p:nvSpPr>
        <p:spPr>
          <a:xfrm>
            <a:off x="4754880" y="4617720"/>
            <a:ext cx="1920240" cy="1417320"/>
          </a:xfrm>
          <a:prstGeom prst="roundRect">
            <a:avLst>
              <a:gd name="adj" fmla="val 5161"/>
            </a:avLst>
          </a:prstGeom>
          <a:solidFill>
            <a:srgbClr val="F3EFE6"/>
          </a:solidFill>
          <a:ln/>
        </p:spPr>
      </p:sp>
      <p:sp>
        <p:nvSpPr>
          <p:cNvPr id="14" name="Text 12"/>
          <p:cNvSpPr txBox="1"/>
          <p:nvPr/>
        </p:nvSpPr>
        <p:spPr>
          <a:xfrm>
            <a:off x="4754880" y="4736592"/>
            <a:ext cx="1920240" cy="685800"/>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3</a:t>
            </a:r>
            <a:endParaRPr lang="en-US" sz="3000" dirty="0"/>
          </a:p>
        </p:txBody>
      </p:sp>
      <p:sp>
        <p:nvSpPr>
          <p:cNvPr id="15" name="Text 13"/>
          <p:cNvSpPr txBox="1"/>
          <p:nvPr/>
        </p:nvSpPr>
        <p:spPr>
          <a:xfrm>
            <a:off x="4846320" y="5394960"/>
            <a:ext cx="1737360" cy="548640"/>
          </a:xfrm>
          <a:prstGeom prst="rect">
            <a:avLst/>
          </a:prstGeom>
          <a:noFill/>
          <a:ln/>
        </p:spPr>
        <p:txBody>
          <a:bodyPr wrap="square" lIns="0" tIns="0" rIns="0" bIns="0" rtlCol="0" anchor="ctr"/>
          <a:lstStyle/>
          <a:p>
            <a:pPr algn="ctr" indent="0" marL="0">
              <a:buNone/>
            </a:pPr>
            <a:r>
              <a:rPr lang="en-US" sz="1100" dirty="0">
                <a:solidFill>
                  <a:srgbClr val="7A6A61"/>
                </a:solidFill>
                <a:latin typeface="Calibri" pitchFamily="34" charset="0"/>
                <a:ea typeface="Calibri" pitchFamily="34" charset="-122"/>
                <a:cs typeface="Calibri" pitchFamily="34" charset="-120"/>
              </a:rPr>
              <a:t>Classes taught (I, III, V)</a:t>
            </a:r>
            <a:endParaRPr lang="en-US" sz="1100" dirty="0"/>
          </a:p>
        </p:txBody>
      </p:sp>
      <p:pic>
        <p:nvPicPr>
          <p:cNvPr id="16" name="Image 0" descr="assets/img-004.png">    </p:cNvPr>
          <p:cNvPicPr>
            <a:picLocks noChangeAspect="1"/>
          </p:cNvPicPr>
          <p:nvPr/>
        </p:nvPicPr>
        <p:blipFill>
          <a:blip r:embed="rId1"/>
          <a:srcRect l="0" r="0" t="0" b="0"/>
          <a:stretch/>
        </p:blipFill>
        <p:spPr>
          <a:xfrm>
            <a:off x="7360920" y="1691640"/>
            <a:ext cx="4251960" cy="4343400"/>
          </a:xfrm>
          <a:prstGeom prst="rect">
            <a:avLst/>
          </a:prstGeom>
        </p:spPr>
      </p:pic>
      <p:sp>
        <p:nvSpPr>
          <p:cNvPr id="17" name="Shape 14"/>
          <p:cNvSpPr/>
          <p:nvPr/>
        </p:nvSpPr>
        <p:spPr>
          <a:xfrm>
            <a:off x="7360920" y="1691640"/>
            <a:ext cx="4251960" cy="4343400"/>
          </a:xfrm>
          <a:prstGeom prst="roundRect">
            <a:avLst>
              <a:gd name="adj" fmla="val 645"/>
            </a:avLst>
          </a:prstGeom>
          <a:ln w="25400">
            <a:solidFill>
              <a:srgbClr val="A7BEAE"/>
            </a:solidFill>
            <a:prstDash val="solid"/>
          </a:ln>
        </p:spPr>
      </p:sp>
      <p:sp>
        <p:nvSpPr>
          <p:cNvPr id="18" name="Text 15"/>
          <p:cNvSpPr txBox="1"/>
          <p:nvPr/>
        </p:nvSpPr>
        <p:spPr>
          <a:xfrm>
            <a:off x="7360920" y="6080760"/>
            <a:ext cx="4251960" cy="320040"/>
          </a:xfrm>
          <a:prstGeom prst="rect">
            <a:avLst/>
          </a:prstGeom>
          <a:noFill/>
          <a:ln/>
        </p:spPr>
        <p:txBody>
          <a:bodyPr wrap="square" lIns="0" tIns="0" rIns="0" bIns="0" rtlCol="0" anchor="ctr"/>
          <a:lstStyle/>
          <a:p>
            <a:pPr indent="0" marL="0">
              <a:buNone/>
            </a:pPr>
            <a:r>
              <a:rPr lang="en-US" sz="1000" i="1" dirty="0">
                <a:solidFill>
                  <a:srgbClr val="7A6A61"/>
                </a:solidFill>
                <a:latin typeface="Calibri" pitchFamily="34" charset="0"/>
                <a:ea typeface="Calibri" pitchFamily="34" charset="-122"/>
                <a:cs typeface="Calibri" pitchFamily="34" charset="-120"/>
              </a:rPr>
              <a:t>Whiteboard teaching session, Class III &amp; V remedial batch</a:t>
            </a:r>
            <a:endParaRPr lang="en-US" sz="1000" dirty="0"/>
          </a:p>
        </p:txBody>
      </p:sp>
      <p:sp>
        <p:nvSpPr>
          <p:cNvPr id="19" name="Text 1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20" name="Text 1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4.2</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Organization Profile</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sp>
        <p:nvSpPr>
          <p:cNvPr id="5" name="Shape 3"/>
          <p:cNvSpPr/>
          <p:nvPr/>
        </p:nvSpPr>
        <p:spPr>
          <a:xfrm>
            <a:off x="548640" y="1691640"/>
            <a:ext cx="6309360" cy="4434840"/>
          </a:xfrm>
          <a:prstGeom prst="roundRect">
            <a:avLst>
              <a:gd name="adj" fmla="val 1649"/>
            </a:avLst>
          </a:prstGeom>
          <a:solidFill>
            <a:srgbClr val="FFFFFF"/>
          </a:solidFill>
          <a:ln/>
        </p:spPr>
      </p:sp>
      <p:sp>
        <p:nvSpPr>
          <p:cNvPr id="6" name="Text 4"/>
          <p:cNvSpPr txBox="1"/>
          <p:nvPr/>
        </p:nvSpPr>
        <p:spPr>
          <a:xfrm>
            <a:off x="868680" y="1920240"/>
            <a:ext cx="5669280"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Mahila SewaShakti Foundation</a:t>
            </a:r>
            <a:endParaRPr lang="en-US" sz="2000" dirty="0"/>
          </a:p>
        </p:txBody>
      </p:sp>
      <p:sp>
        <p:nvSpPr>
          <p:cNvPr id="7" name="Text 5"/>
          <p:cNvSpPr txBox="1"/>
          <p:nvPr/>
        </p:nvSpPr>
        <p:spPr>
          <a:xfrm>
            <a:off x="868680" y="2450592"/>
            <a:ext cx="5669280" cy="1051560"/>
          </a:xfrm>
          <a:prstGeom prst="rect">
            <a:avLst/>
          </a:prstGeom>
          <a:noFill/>
          <a:ln/>
        </p:spPr>
        <p:txBody>
          <a:bodyPr wrap="square" lIns="0" tIns="0" rIns="0" bIns="0" rtlCol="0" anchor="ctr"/>
          <a:lstStyle/>
          <a:p>
            <a:pPr indent="0" marL="0">
              <a:lnSpc>
                <a:spcPts val="1900"/>
              </a:lnSpc>
              <a:buNone/>
            </a:pPr>
            <a:r>
              <a:rPr lang="en-US" sz="1350" dirty="0">
                <a:solidFill>
                  <a:srgbClr val="3A2A22"/>
                </a:solidFill>
                <a:latin typeface="Calibri" pitchFamily="34" charset="0"/>
                <a:ea typeface="Calibri" pitchFamily="34" charset="-122"/>
                <a:cs typeface="Calibri" pitchFamily="34" charset="-120"/>
              </a:rPr>
              <a:t>A non-governmental organization (NGO) working towards the welfare, empowerment and education of underprivileged communities, with a special focus on women and children.</a:t>
            </a:r>
            <a:endParaRPr lang="en-US" sz="1350" dirty="0"/>
          </a:p>
        </p:txBody>
      </p:sp>
      <p:sp>
        <p:nvSpPr>
          <p:cNvPr id="8" name="Text 6"/>
          <p:cNvSpPr txBox="1"/>
          <p:nvPr/>
        </p:nvSpPr>
        <p:spPr>
          <a:xfrm>
            <a:off x="868680" y="3566160"/>
            <a:ext cx="5669280" cy="1463040"/>
          </a:xfrm>
          <a:prstGeom prst="rect">
            <a:avLst/>
          </a:prstGeom>
          <a:noFill/>
          <a:ln/>
        </p:spPr>
        <p:txBody>
          <a:bodyPr wrap="square" lIns="0" tIns="0" rIns="0" bIns="0" rtlCol="0" anchor="ctr"/>
          <a:lstStyle/>
          <a:p>
            <a:pPr indent="0" marL="0">
              <a:lnSpc>
                <a:spcPts val="1900"/>
              </a:lnSpc>
              <a:buNone/>
            </a:pPr>
            <a:r>
              <a:rPr lang="en-US" sz="1350" dirty="0">
                <a:solidFill>
                  <a:srgbClr val="3A2A22"/>
                </a:solidFill>
                <a:latin typeface="Calibri" pitchFamily="34" charset="0"/>
                <a:ea typeface="Calibri" pitchFamily="34" charset="-122"/>
                <a:cs typeface="Calibri" pitchFamily="34" charset="-120"/>
              </a:rPr>
              <a:t>As part of its education-support initiatives, the foundation runs a learning centre for students from nearby areas who lack access to consistent quality schooling. It depends on student volunteers and interns to conduct remedial classes, mentor children, and bridge learning gaps.</a:t>
            </a:r>
            <a:endParaRPr lang="en-US" sz="1350" dirty="0"/>
          </a:p>
        </p:txBody>
      </p:sp>
      <p:sp>
        <p:nvSpPr>
          <p:cNvPr id="9" name="Shape 7"/>
          <p:cNvSpPr/>
          <p:nvPr/>
        </p:nvSpPr>
        <p:spPr>
          <a:xfrm>
            <a:off x="868680" y="5166360"/>
            <a:ext cx="5669280" cy="777240"/>
          </a:xfrm>
          <a:prstGeom prst="roundRect">
            <a:avLst>
              <a:gd name="adj" fmla="val 7059"/>
            </a:avLst>
          </a:prstGeom>
          <a:solidFill>
            <a:srgbClr val="F3EFE6"/>
          </a:solidFill>
          <a:ln/>
        </p:spPr>
      </p:sp>
      <p:sp>
        <p:nvSpPr>
          <p:cNvPr id="10" name="Text 8"/>
          <p:cNvSpPr txBox="1"/>
          <p:nvPr/>
        </p:nvSpPr>
        <p:spPr>
          <a:xfrm>
            <a:off x="1051560" y="5166360"/>
            <a:ext cx="5303520" cy="777240"/>
          </a:xfrm>
          <a:prstGeom prst="rect">
            <a:avLst/>
          </a:prstGeom>
          <a:noFill/>
          <a:ln/>
        </p:spPr>
        <p:txBody>
          <a:bodyPr wrap="square" lIns="0" tIns="0" rIns="0" bIns="0"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Registered NGO  ·  Noida, Uttar Pradesh  ·  Focus: Women &amp; Child Education</a:t>
            </a:r>
            <a:endParaRPr lang="en-US" sz="1200" dirty="0"/>
          </a:p>
        </p:txBody>
      </p:sp>
      <p:pic>
        <p:nvPicPr>
          <p:cNvPr id="11" name="Image 0" descr="assets/img-001.png">    </p:cNvPr>
          <p:cNvPicPr>
            <a:picLocks noChangeAspect="1"/>
          </p:cNvPicPr>
          <p:nvPr/>
        </p:nvPicPr>
        <p:blipFill>
          <a:blip r:embed="rId1"/>
          <a:srcRect l="0" r="0" t="0" b="0"/>
          <a:stretch/>
        </p:blipFill>
        <p:spPr>
          <a:xfrm>
            <a:off x="7178040" y="1691640"/>
            <a:ext cx="4434840" cy="3264408"/>
          </a:xfrm>
          <a:prstGeom prst="rect">
            <a:avLst/>
          </a:prstGeom>
        </p:spPr>
      </p:pic>
      <p:sp>
        <p:nvSpPr>
          <p:cNvPr id="12" name="Shape 9"/>
          <p:cNvSpPr/>
          <p:nvPr/>
        </p:nvSpPr>
        <p:spPr>
          <a:xfrm>
            <a:off x="7178040" y="1691640"/>
            <a:ext cx="4434840" cy="3264408"/>
          </a:xfrm>
          <a:prstGeom prst="roundRect">
            <a:avLst>
              <a:gd name="adj" fmla="val 840"/>
            </a:avLst>
          </a:prstGeom>
          <a:ln w="25400">
            <a:solidFill>
              <a:srgbClr val="B85042"/>
            </a:solidFill>
            <a:prstDash val="solid"/>
          </a:ln>
        </p:spPr>
      </p:sp>
      <p:sp>
        <p:nvSpPr>
          <p:cNvPr id="13" name="Text 10"/>
          <p:cNvSpPr txBox="1"/>
          <p:nvPr/>
        </p:nvSpPr>
        <p:spPr>
          <a:xfrm>
            <a:off x="7178040" y="5047488"/>
            <a:ext cx="4434840" cy="777240"/>
          </a:xfrm>
          <a:prstGeom prst="rect">
            <a:avLst/>
          </a:prstGeom>
          <a:noFill/>
          <a:ln/>
        </p:spPr>
        <p:txBody>
          <a:bodyPr wrap="square" lIns="0" tIns="0" rIns="0" bIns="0" rtlCol="0" anchor="ctr"/>
          <a:lstStyle/>
          <a:p>
            <a:pPr indent="0" marL="0">
              <a:lnSpc>
                <a:spcPts val="1500"/>
              </a:lnSpc>
              <a:buNone/>
            </a:pPr>
            <a:r>
              <a:rPr lang="en-US" sz="1100" i="1" dirty="0">
                <a:solidFill>
                  <a:srgbClr val="7A6A61"/>
                </a:solidFill>
                <a:latin typeface="Calibri" pitchFamily="34" charset="0"/>
                <a:ea typeface="Calibri" pitchFamily="34" charset="-122"/>
                <a:cs typeface="Calibri" pitchFamily="34" charset="-120"/>
              </a:rPr>
              <a:t>Certificate of Appreciation, awarded to Vivek Kumar for volunteer service (1–31 July 2026)</a:t>
            </a:r>
            <a:endParaRPr lang="en-US" sz="1100" dirty="0"/>
          </a:p>
        </p:txBody>
      </p:sp>
      <p:sp>
        <p:nvSpPr>
          <p:cNvPr id="14" name="Text 1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15" name="Text 1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4.3</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sp>
        <p:nvSpPr>
          <p:cNvPr id="5" name="Shape 3"/>
          <p:cNvSpPr/>
          <p:nvPr/>
        </p:nvSpPr>
        <p:spPr>
          <a:xfrm>
            <a:off x="548640" y="1828800"/>
            <a:ext cx="11064240" cy="1417320"/>
          </a:xfrm>
          <a:prstGeom prst="roundRect">
            <a:avLst>
              <a:gd name="adj" fmla="val 5161"/>
            </a:avLst>
          </a:prstGeom>
          <a:solidFill>
            <a:srgbClr val="F3EFE6"/>
          </a:solidFill>
          <a:ln/>
        </p:spPr>
      </p:sp>
      <p:sp>
        <p:nvSpPr>
          <p:cNvPr id="6" name="Text 4"/>
          <p:cNvSpPr txBox="1"/>
          <p:nvPr/>
        </p:nvSpPr>
        <p:spPr>
          <a:xfrm>
            <a:off x="868680" y="1828800"/>
            <a:ext cx="10424160" cy="1417320"/>
          </a:xfrm>
          <a:prstGeom prst="rect">
            <a:avLst/>
          </a:prstGeom>
          <a:noFill/>
          <a:ln/>
        </p:spPr>
        <p:txBody>
          <a:bodyPr wrap="square" lIns="0" tIns="0" rIns="0" bIns="0" rtlCol="0" anchor="ctr"/>
          <a:lstStyle/>
          <a:p>
            <a:pPr indent="0" marL="0">
              <a:lnSpc>
                <a:spcPts val="2300"/>
              </a:lnSpc>
              <a:buNone/>
            </a:pPr>
            <a:r>
              <a:rPr lang="en-US" sz="1600" dirty="0">
                <a:solidFill>
                  <a:srgbClr val="3A2A22"/>
                </a:solidFill>
                <a:latin typeface="Calibri" pitchFamily="34" charset="0"/>
                <a:ea typeface="Calibri" pitchFamily="34" charset="-122"/>
                <a:cs typeface="Calibri" pitchFamily="34" charset="-120"/>
              </a:rPr>
              <a:t>A large number of children at the foundation's centre come from economically weaker backgrounds and lack consistent schooling, guidance, or academic support at home — leaving many students behind the learning level expected for their class.</a:t>
            </a:r>
            <a:endParaRPr lang="en-US" sz="1600" dirty="0"/>
          </a:p>
        </p:txBody>
      </p:sp>
      <p:sp>
        <p:nvSpPr>
          <p:cNvPr id="7" name="Text 5"/>
          <p:cNvSpPr txBox="1"/>
          <p:nvPr/>
        </p:nvSpPr>
        <p:spPr>
          <a:xfrm>
            <a:off x="548640" y="3520440"/>
            <a:ext cx="7315200" cy="365760"/>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The internship was designed to address this gap through:</a:t>
            </a:r>
            <a:endParaRPr lang="en-US" sz="1400" dirty="0"/>
          </a:p>
        </p:txBody>
      </p:sp>
      <p:sp>
        <p:nvSpPr>
          <p:cNvPr id="8" name="Shape 6"/>
          <p:cNvSpPr/>
          <p:nvPr/>
        </p:nvSpPr>
        <p:spPr>
          <a:xfrm>
            <a:off x="548640" y="3977640"/>
            <a:ext cx="3566160" cy="2148840"/>
          </a:xfrm>
          <a:prstGeom prst="roundRect">
            <a:avLst>
              <a:gd name="adj" fmla="val 3404"/>
            </a:avLst>
          </a:prstGeom>
          <a:solidFill>
            <a:srgbClr val="FFFFFF"/>
          </a:solidFill>
          <a:ln w="15875">
            <a:solidFill>
              <a:srgbClr val="A7BEAE"/>
            </a:solidFill>
            <a:prstDash val="solid"/>
          </a:ln>
        </p:spPr>
      </p:sp>
      <p:sp>
        <p:nvSpPr>
          <p:cNvPr id="9" name="Shape 7"/>
          <p:cNvSpPr/>
          <p:nvPr/>
        </p:nvSpPr>
        <p:spPr>
          <a:xfrm>
            <a:off x="822960" y="4206240"/>
            <a:ext cx="457200" cy="457200"/>
          </a:xfrm>
          <a:prstGeom prst="ellipse">
            <a:avLst/>
          </a:prstGeom>
          <a:solidFill>
            <a:srgbClr val="B85042"/>
          </a:solidFill>
          <a:ln/>
        </p:spPr>
      </p:sp>
      <p:sp>
        <p:nvSpPr>
          <p:cNvPr id="10" name="Text 8"/>
          <p:cNvSpPr txBox="1"/>
          <p:nvPr/>
        </p:nvSpPr>
        <p:spPr>
          <a:xfrm>
            <a:off x="822960" y="4800600"/>
            <a:ext cx="3017520" cy="594360"/>
          </a:xfrm>
          <a:prstGeom prst="rect">
            <a:avLst/>
          </a:prstGeom>
          <a:noFill/>
          <a:ln/>
        </p:spPr>
        <p:txBody>
          <a:bodyPr wrap="square" lIns="0" tIns="0" rIns="0" bIns="0" rtlCol="0" anchor="ctr"/>
          <a:lstStyle/>
          <a:p>
            <a:pPr indent="0" marL="0">
              <a:lnSpc>
                <a:spcPts val="1700"/>
              </a:lnSpc>
              <a:buNone/>
            </a:pPr>
            <a:r>
              <a:rPr lang="en-US" sz="1450" b="1" dirty="0">
                <a:solidFill>
                  <a:srgbClr val="3A2A22"/>
                </a:solidFill>
                <a:latin typeface="Cambria" pitchFamily="34" charset="0"/>
                <a:ea typeface="Cambria" pitchFamily="34" charset="-122"/>
                <a:cs typeface="Cambria" pitchFamily="34" charset="-120"/>
              </a:rPr>
              <a:t>Focused Remedial Teaching</a:t>
            </a:r>
            <a:endParaRPr lang="en-US" sz="1450" dirty="0"/>
          </a:p>
        </p:txBody>
      </p:sp>
      <p:sp>
        <p:nvSpPr>
          <p:cNvPr id="11" name="Text 9"/>
          <p:cNvSpPr txBox="1"/>
          <p:nvPr/>
        </p:nvSpPr>
        <p:spPr>
          <a:xfrm>
            <a:off x="822960" y="5394960"/>
            <a:ext cx="3017520" cy="640080"/>
          </a:xfrm>
          <a:prstGeom prst="rect">
            <a:avLst/>
          </a:prstGeom>
          <a:noFill/>
          <a:ln/>
        </p:spPr>
        <p:txBody>
          <a:bodyPr wrap="square" lIns="0" tIns="0" rIns="0" bIns="0" rtlCol="0" anchor="ctr"/>
          <a:lstStyle/>
          <a:p>
            <a:pPr indent="0" marL="0">
              <a:lnSpc>
                <a:spcPts val="1500"/>
              </a:lnSpc>
              <a:buNone/>
            </a:pPr>
            <a:r>
              <a:rPr lang="en-US" sz="1150" dirty="0">
                <a:solidFill>
                  <a:srgbClr val="7A6A61"/>
                </a:solidFill>
                <a:latin typeface="Calibri" pitchFamily="34" charset="0"/>
                <a:ea typeface="Calibri" pitchFamily="34" charset="-122"/>
                <a:cs typeface="Calibri" pitchFamily="34" charset="-120"/>
              </a:rPr>
              <a:t>Small-group instruction for students of Classes 1st, 3rd and 5th.</a:t>
            </a:r>
            <a:endParaRPr lang="en-US" sz="1150" dirty="0"/>
          </a:p>
        </p:txBody>
      </p:sp>
      <p:sp>
        <p:nvSpPr>
          <p:cNvPr id="12" name="Shape 10"/>
          <p:cNvSpPr/>
          <p:nvPr/>
        </p:nvSpPr>
        <p:spPr>
          <a:xfrm>
            <a:off x="4343400" y="3977640"/>
            <a:ext cx="3566160" cy="2148840"/>
          </a:xfrm>
          <a:prstGeom prst="roundRect">
            <a:avLst>
              <a:gd name="adj" fmla="val 3404"/>
            </a:avLst>
          </a:prstGeom>
          <a:solidFill>
            <a:srgbClr val="FFFFFF"/>
          </a:solidFill>
          <a:ln w="15875">
            <a:solidFill>
              <a:srgbClr val="A7BEAE"/>
            </a:solidFill>
            <a:prstDash val="solid"/>
          </a:ln>
        </p:spPr>
      </p:sp>
      <p:sp>
        <p:nvSpPr>
          <p:cNvPr id="13" name="Shape 11"/>
          <p:cNvSpPr/>
          <p:nvPr/>
        </p:nvSpPr>
        <p:spPr>
          <a:xfrm>
            <a:off x="4617720" y="4206240"/>
            <a:ext cx="457200" cy="457200"/>
          </a:xfrm>
          <a:prstGeom prst="ellipse">
            <a:avLst/>
          </a:prstGeom>
          <a:solidFill>
            <a:srgbClr val="B85042"/>
          </a:solidFill>
          <a:ln/>
        </p:spPr>
      </p:sp>
      <p:sp>
        <p:nvSpPr>
          <p:cNvPr id="14" name="Text 12"/>
          <p:cNvSpPr txBox="1"/>
          <p:nvPr/>
        </p:nvSpPr>
        <p:spPr>
          <a:xfrm>
            <a:off x="4617720" y="4800600"/>
            <a:ext cx="3017520" cy="594360"/>
          </a:xfrm>
          <a:prstGeom prst="rect">
            <a:avLst/>
          </a:prstGeom>
          <a:noFill/>
          <a:ln/>
        </p:spPr>
        <p:txBody>
          <a:bodyPr wrap="square" lIns="0" tIns="0" rIns="0" bIns="0" rtlCol="0" anchor="ctr"/>
          <a:lstStyle/>
          <a:p>
            <a:pPr indent="0" marL="0">
              <a:lnSpc>
                <a:spcPts val="1700"/>
              </a:lnSpc>
              <a:buNone/>
            </a:pPr>
            <a:r>
              <a:rPr lang="en-US" sz="1450" b="1" dirty="0">
                <a:solidFill>
                  <a:srgbClr val="3A2A22"/>
                </a:solidFill>
                <a:latin typeface="Cambria" pitchFamily="34" charset="0"/>
                <a:ea typeface="Cambria" pitchFamily="34" charset="-122"/>
                <a:cs typeface="Cambria" pitchFamily="34" charset="-120"/>
              </a:rPr>
              <a:t>Identifying Struggling Learners</a:t>
            </a:r>
            <a:endParaRPr lang="en-US" sz="1450" dirty="0"/>
          </a:p>
        </p:txBody>
      </p:sp>
      <p:sp>
        <p:nvSpPr>
          <p:cNvPr id="15" name="Text 13"/>
          <p:cNvSpPr txBox="1"/>
          <p:nvPr/>
        </p:nvSpPr>
        <p:spPr>
          <a:xfrm>
            <a:off x="4617720" y="5394960"/>
            <a:ext cx="3017520" cy="640080"/>
          </a:xfrm>
          <a:prstGeom prst="rect">
            <a:avLst/>
          </a:prstGeom>
          <a:noFill/>
          <a:ln/>
        </p:spPr>
        <p:txBody>
          <a:bodyPr wrap="square" lIns="0" tIns="0" rIns="0" bIns="0" rtlCol="0" anchor="ctr"/>
          <a:lstStyle/>
          <a:p>
            <a:pPr indent="0" marL="0">
              <a:lnSpc>
                <a:spcPts val="1500"/>
              </a:lnSpc>
              <a:buNone/>
            </a:pPr>
            <a:r>
              <a:rPr lang="en-US" sz="1150" dirty="0">
                <a:solidFill>
                  <a:srgbClr val="7A6A61"/>
                </a:solidFill>
                <a:latin typeface="Calibri" pitchFamily="34" charset="0"/>
                <a:ea typeface="Calibri" pitchFamily="34" charset="-122"/>
                <a:cs typeface="Calibri" pitchFamily="34" charset="-120"/>
              </a:rPr>
              <a:t>Locating and supporting the students who had fallen furthest behind.</a:t>
            </a:r>
            <a:endParaRPr lang="en-US" sz="1150" dirty="0"/>
          </a:p>
        </p:txBody>
      </p:sp>
      <p:sp>
        <p:nvSpPr>
          <p:cNvPr id="16" name="Shape 14"/>
          <p:cNvSpPr/>
          <p:nvPr/>
        </p:nvSpPr>
        <p:spPr>
          <a:xfrm>
            <a:off x="8138160" y="3977640"/>
            <a:ext cx="3566160" cy="2148840"/>
          </a:xfrm>
          <a:prstGeom prst="roundRect">
            <a:avLst>
              <a:gd name="adj" fmla="val 3404"/>
            </a:avLst>
          </a:prstGeom>
          <a:solidFill>
            <a:srgbClr val="FFFFFF"/>
          </a:solidFill>
          <a:ln w="15875">
            <a:solidFill>
              <a:srgbClr val="A7BEAE"/>
            </a:solidFill>
            <a:prstDash val="solid"/>
          </a:ln>
        </p:spPr>
      </p:sp>
      <p:sp>
        <p:nvSpPr>
          <p:cNvPr id="17" name="Shape 15"/>
          <p:cNvSpPr/>
          <p:nvPr/>
        </p:nvSpPr>
        <p:spPr>
          <a:xfrm>
            <a:off x="8412480" y="4206240"/>
            <a:ext cx="457200" cy="457200"/>
          </a:xfrm>
          <a:prstGeom prst="ellipse">
            <a:avLst/>
          </a:prstGeom>
          <a:solidFill>
            <a:srgbClr val="B85042"/>
          </a:solidFill>
          <a:ln/>
        </p:spPr>
      </p:sp>
      <p:sp>
        <p:nvSpPr>
          <p:cNvPr id="18" name="Text 16"/>
          <p:cNvSpPr txBox="1"/>
          <p:nvPr/>
        </p:nvSpPr>
        <p:spPr>
          <a:xfrm>
            <a:off x="8412480" y="4800600"/>
            <a:ext cx="3017520" cy="594360"/>
          </a:xfrm>
          <a:prstGeom prst="rect">
            <a:avLst/>
          </a:prstGeom>
          <a:noFill/>
          <a:ln/>
        </p:spPr>
        <p:txBody>
          <a:bodyPr wrap="square" lIns="0" tIns="0" rIns="0" bIns="0" rtlCol="0" anchor="ctr"/>
          <a:lstStyle/>
          <a:p>
            <a:pPr indent="0" marL="0">
              <a:lnSpc>
                <a:spcPts val="1700"/>
              </a:lnSpc>
              <a:buNone/>
            </a:pPr>
            <a:r>
              <a:rPr lang="en-US" sz="1450" b="1" dirty="0">
                <a:solidFill>
                  <a:srgbClr val="3A2A22"/>
                </a:solidFill>
                <a:latin typeface="Cambria" pitchFamily="34" charset="0"/>
                <a:ea typeface="Cambria" pitchFamily="34" charset="-122"/>
                <a:cs typeface="Cambria" pitchFamily="34" charset="-120"/>
              </a:rPr>
              <a:t>Bridging the Learning Gap</a:t>
            </a:r>
            <a:endParaRPr lang="en-US" sz="1450" dirty="0"/>
          </a:p>
        </p:txBody>
      </p:sp>
      <p:sp>
        <p:nvSpPr>
          <p:cNvPr id="19" name="Text 17"/>
          <p:cNvSpPr txBox="1"/>
          <p:nvPr/>
        </p:nvSpPr>
        <p:spPr>
          <a:xfrm>
            <a:off x="8412480" y="5394960"/>
            <a:ext cx="3017520" cy="640080"/>
          </a:xfrm>
          <a:prstGeom prst="rect">
            <a:avLst/>
          </a:prstGeom>
          <a:noFill/>
          <a:ln/>
        </p:spPr>
        <p:txBody>
          <a:bodyPr wrap="square" lIns="0" tIns="0" rIns="0" bIns="0" rtlCol="0" anchor="ctr"/>
          <a:lstStyle/>
          <a:p>
            <a:pPr indent="0" marL="0">
              <a:lnSpc>
                <a:spcPts val="1500"/>
              </a:lnSpc>
              <a:buNone/>
            </a:pPr>
            <a:r>
              <a:rPr lang="en-US" sz="1150" dirty="0">
                <a:solidFill>
                  <a:srgbClr val="7A6A61"/>
                </a:solidFill>
                <a:latin typeface="Calibri" pitchFamily="34" charset="0"/>
                <a:ea typeface="Calibri" pitchFamily="34" charset="-122"/>
                <a:cs typeface="Calibri" pitchFamily="34" charset="-120"/>
              </a:rPr>
              <a:t>Providing structured, consistent academic support otherwise unavailable.</a:t>
            </a:r>
            <a:endParaRPr lang="en-US" sz="1150" dirty="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21" name="Text 19"/>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4.4</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Objectives of the Internship</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sp>
        <p:nvSpPr>
          <p:cNvPr id="5" name="Shape 3"/>
          <p:cNvSpPr/>
          <p:nvPr/>
        </p:nvSpPr>
        <p:spPr>
          <a:xfrm>
            <a:off x="548640" y="1783080"/>
            <a:ext cx="5349240" cy="1188720"/>
          </a:xfrm>
          <a:prstGeom prst="roundRect">
            <a:avLst>
              <a:gd name="adj" fmla="val 6154"/>
            </a:avLst>
          </a:prstGeom>
          <a:solidFill>
            <a:srgbClr val="F3EFE6"/>
          </a:solidFill>
          <a:ln/>
        </p:spPr>
      </p:sp>
      <p:sp>
        <p:nvSpPr>
          <p:cNvPr id="6" name="Shape 4"/>
          <p:cNvSpPr/>
          <p:nvPr/>
        </p:nvSpPr>
        <p:spPr>
          <a:xfrm>
            <a:off x="777240" y="2011680"/>
            <a:ext cx="502920" cy="502920"/>
          </a:xfrm>
          <a:prstGeom prst="ellipse">
            <a:avLst/>
          </a:prstGeom>
          <a:solidFill>
            <a:srgbClr val="B85042"/>
          </a:solidFill>
          <a:ln/>
        </p:spPr>
      </p:sp>
      <p:sp>
        <p:nvSpPr>
          <p:cNvPr id="7" name="Text 5"/>
          <p:cNvSpPr txBox="1"/>
          <p:nvPr/>
        </p:nvSpPr>
        <p:spPr>
          <a:xfrm>
            <a:off x="77724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63040" y="1892808"/>
            <a:ext cx="4251960" cy="969264"/>
          </a:xfrm>
          <a:prstGeom prst="rect">
            <a:avLst/>
          </a:prstGeom>
          <a:noFill/>
          <a:ln/>
        </p:spPr>
        <p:txBody>
          <a:bodyPr wrap="square" lIns="0" tIns="0" rIns="0" bIns="0" rtlCol="0" anchor="ctr"/>
          <a:lstStyle/>
          <a:p>
            <a:pPr indent="0" marL="0">
              <a:lnSpc>
                <a:spcPts val="1600"/>
              </a:lnSpc>
              <a:buNone/>
            </a:pPr>
            <a:r>
              <a:rPr lang="en-US" sz="1250" dirty="0">
                <a:solidFill>
                  <a:srgbClr val="3A2A22"/>
                </a:solidFill>
                <a:latin typeface="Calibri" pitchFamily="34" charset="0"/>
                <a:ea typeface="Calibri" pitchFamily="34" charset="-122"/>
                <a:cs typeface="Calibri" pitchFamily="34" charset="-120"/>
              </a:rPr>
              <a:t>Conduct engaging and effective teaching sessions for students of Classes 1st, 3rd and 5th</a:t>
            </a:r>
            <a:endParaRPr lang="en-US" sz="1250" dirty="0"/>
          </a:p>
        </p:txBody>
      </p:sp>
      <p:sp>
        <p:nvSpPr>
          <p:cNvPr id="9" name="Shape 7"/>
          <p:cNvSpPr/>
          <p:nvPr/>
        </p:nvSpPr>
        <p:spPr>
          <a:xfrm>
            <a:off x="6172200" y="1783080"/>
            <a:ext cx="5349240" cy="1188720"/>
          </a:xfrm>
          <a:prstGeom prst="roundRect">
            <a:avLst>
              <a:gd name="adj" fmla="val 6154"/>
            </a:avLst>
          </a:prstGeom>
          <a:solidFill>
            <a:srgbClr val="F3EFE6"/>
          </a:solidFill>
          <a:ln/>
        </p:spPr>
      </p:sp>
      <p:sp>
        <p:nvSpPr>
          <p:cNvPr id="10" name="Shape 8"/>
          <p:cNvSpPr/>
          <p:nvPr/>
        </p:nvSpPr>
        <p:spPr>
          <a:xfrm>
            <a:off x="6400800" y="2011680"/>
            <a:ext cx="502920" cy="502920"/>
          </a:xfrm>
          <a:prstGeom prst="ellipse">
            <a:avLst/>
          </a:prstGeom>
          <a:solidFill>
            <a:srgbClr val="B85042"/>
          </a:solidFill>
          <a:ln/>
        </p:spPr>
      </p:sp>
      <p:sp>
        <p:nvSpPr>
          <p:cNvPr id="11" name="Text 9"/>
          <p:cNvSpPr txBox="1"/>
          <p:nvPr/>
        </p:nvSpPr>
        <p:spPr>
          <a:xfrm>
            <a:off x="640080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086600" y="1892808"/>
            <a:ext cx="4251960" cy="969264"/>
          </a:xfrm>
          <a:prstGeom prst="rect">
            <a:avLst/>
          </a:prstGeom>
          <a:noFill/>
          <a:ln/>
        </p:spPr>
        <p:txBody>
          <a:bodyPr wrap="square" lIns="0" tIns="0" rIns="0" bIns="0" rtlCol="0" anchor="ctr"/>
          <a:lstStyle/>
          <a:p>
            <a:pPr indent="0" marL="0">
              <a:lnSpc>
                <a:spcPts val="1600"/>
              </a:lnSpc>
              <a:buNone/>
            </a:pPr>
            <a:r>
              <a:rPr lang="en-US" sz="1250" dirty="0">
                <a:solidFill>
                  <a:srgbClr val="3A2A22"/>
                </a:solidFill>
                <a:latin typeface="Calibri" pitchFamily="34" charset="0"/>
                <a:ea typeface="Calibri" pitchFamily="34" charset="-122"/>
                <a:cs typeface="Calibri" pitchFamily="34" charset="-120"/>
              </a:rPr>
              <a:t>Assess the existing academic level of each student and identify learning gaps</a:t>
            </a:r>
            <a:endParaRPr lang="en-US" sz="1250" dirty="0"/>
          </a:p>
        </p:txBody>
      </p:sp>
      <p:sp>
        <p:nvSpPr>
          <p:cNvPr id="13" name="Shape 11"/>
          <p:cNvSpPr/>
          <p:nvPr/>
        </p:nvSpPr>
        <p:spPr>
          <a:xfrm>
            <a:off x="548640" y="3200400"/>
            <a:ext cx="5349240" cy="1188720"/>
          </a:xfrm>
          <a:prstGeom prst="roundRect">
            <a:avLst>
              <a:gd name="adj" fmla="val 6154"/>
            </a:avLst>
          </a:prstGeom>
          <a:solidFill>
            <a:srgbClr val="F3EFE6"/>
          </a:solidFill>
          <a:ln/>
        </p:spPr>
      </p:sp>
      <p:sp>
        <p:nvSpPr>
          <p:cNvPr id="14" name="Shape 12"/>
          <p:cNvSpPr/>
          <p:nvPr/>
        </p:nvSpPr>
        <p:spPr>
          <a:xfrm>
            <a:off x="777240" y="3429000"/>
            <a:ext cx="502920" cy="502920"/>
          </a:xfrm>
          <a:prstGeom prst="ellipse">
            <a:avLst/>
          </a:prstGeom>
          <a:solidFill>
            <a:srgbClr val="B85042"/>
          </a:solidFill>
          <a:ln/>
        </p:spPr>
      </p:sp>
      <p:sp>
        <p:nvSpPr>
          <p:cNvPr id="15" name="Text 13"/>
          <p:cNvSpPr txBox="1"/>
          <p:nvPr/>
        </p:nvSpPr>
        <p:spPr>
          <a:xfrm>
            <a:off x="777240" y="3429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463040" y="3310128"/>
            <a:ext cx="4251960" cy="969264"/>
          </a:xfrm>
          <a:prstGeom prst="rect">
            <a:avLst/>
          </a:prstGeom>
          <a:noFill/>
          <a:ln/>
        </p:spPr>
        <p:txBody>
          <a:bodyPr wrap="square" lIns="0" tIns="0" rIns="0" bIns="0" rtlCol="0" anchor="ctr"/>
          <a:lstStyle/>
          <a:p>
            <a:pPr indent="0" marL="0">
              <a:lnSpc>
                <a:spcPts val="1600"/>
              </a:lnSpc>
              <a:buNone/>
            </a:pPr>
            <a:r>
              <a:rPr lang="en-US" sz="1250" dirty="0">
                <a:solidFill>
                  <a:srgbClr val="3A2A22"/>
                </a:solidFill>
                <a:latin typeface="Calibri" pitchFamily="34" charset="0"/>
                <a:ea typeface="Calibri" pitchFamily="34" charset="-122"/>
                <a:cs typeface="Calibri" pitchFamily="34" charset="-120"/>
              </a:rPr>
              <a:t>Help students improve basic reading, writing, and mathematical skills</a:t>
            </a:r>
            <a:endParaRPr lang="en-US" sz="1250" dirty="0"/>
          </a:p>
        </p:txBody>
      </p:sp>
      <p:sp>
        <p:nvSpPr>
          <p:cNvPr id="17" name="Shape 15"/>
          <p:cNvSpPr/>
          <p:nvPr/>
        </p:nvSpPr>
        <p:spPr>
          <a:xfrm>
            <a:off x="6172200" y="3200400"/>
            <a:ext cx="5349240" cy="1188720"/>
          </a:xfrm>
          <a:prstGeom prst="roundRect">
            <a:avLst>
              <a:gd name="adj" fmla="val 6154"/>
            </a:avLst>
          </a:prstGeom>
          <a:solidFill>
            <a:srgbClr val="F3EFE6"/>
          </a:solidFill>
          <a:ln/>
        </p:spPr>
      </p:sp>
      <p:sp>
        <p:nvSpPr>
          <p:cNvPr id="18" name="Shape 16"/>
          <p:cNvSpPr/>
          <p:nvPr/>
        </p:nvSpPr>
        <p:spPr>
          <a:xfrm>
            <a:off x="6400800" y="3429000"/>
            <a:ext cx="502920" cy="502920"/>
          </a:xfrm>
          <a:prstGeom prst="ellipse">
            <a:avLst/>
          </a:prstGeom>
          <a:solidFill>
            <a:srgbClr val="B85042"/>
          </a:solidFill>
          <a:ln/>
        </p:spPr>
      </p:sp>
      <p:sp>
        <p:nvSpPr>
          <p:cNvPr id="19" name="Text 17"/>
          <p:cNvSpPr txBox="1"/>
          <p:nvPr/>
        </p:nvSpPr>
        <p:spPr>
          <a:xfrm>
            <a:off x="6400800" y="3429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8"/>
          <p:cNvSpPr txBox="1"/>
          <p:nvPr/>
        </p:nvSpPr>
        <p:spPr>
          <a:xfrm>
            <a:off x="7086600" y="3310128"/>
            <a:ext cx="4251960" cy="969264"/>
          </a:xfrm>
          <a:prstGeom prst="rect">
            <a:avLst/>
          </a:prstGeom>
          <a:noFill/>
          <a:ln/>
        </p:spPr>
        <p:txBody>
          <a:bodyPr wrap="square" lIns="0" tIns="0" rIns="0" bIns="0" rtlCol="0" anchor="ctr"/>
          <a:lstStyle/>
          <a:p>
            <a:pPr indent="0" marL="0">
              <a:lnSpc>
                <a:spcPts val="1600"/>
              </a:lnSpc>
              <a:buNone/>
            </a:pPr>
            <a:r>
              <a:rPr lang="en-US" sz="1250" dirty="0">
                <a:solidFill>
                  <a:srgbClr val="3A2A22"/>
                </a:solidFill>
                <a:latin typeface="Calibri" pitchFamily="34" charset="0"/>
                <a:ea typeface="Calibri" pitchFamily="34" charset="-122"/>
                <a:cs typeface="Calibri" pitchFamily="34" charset="-120"/>
              </a:rPr>
              <a:t>Build confidence among students and encourage active participation</a:t>
            </a:r>
            <a:endParaRPr lang="en-US" sz="1250" dirty="0"/>
          </a:p>
        </p:txBody>
      </p:sp>
      <p:sp>
        <p:nvSpPr>
          <p:cNvPr id="21" name="Shape 19"/>
          <p:cNvSpPr/>
          <p:nvPr/>
        </p:nvSpPr>
        <p:spPr>
          <a:xfrm>
            <a:off x="548640" y="4617720"/>
            <a:ext cx="5349240" cy="1188720"/>
          </a:xfrm>
          <a:prstGeom prst="roundRect">
            <a:avLst>
              <a:gd name="adj" fmla="val 6154"/>
            </a:avLst>
          </a:prstGeom>
          <a:solidFill>
            <a:srgbClr val="F3EFE6"/>
          </a:solidFill>
          <a:ln/>
        </p:spPr>
      </p:sp>
      <p:sp>
        <p:nvSpPr>
          <p:cNvPr id="22" name="Shape 20"/>
          <p:cNvSpPr/>
          <p:nvPr/>
        </p:nvSpPr>
        <p:spPr>
          <a:xfrm>
            <a:off x="777240" y="4846320"/>
            <a:ext cx="502920" cy="502920"/>
          </a:xfrm>
          <a:prstGeom prst="ellipse">
            <a:avLst/>
          </a:prstGeom>
          <a:solidFill>
            <a:srgbClr val="B85042"/>
          </a:solidFill>
          <a:ln/>
        </p:spPr>
      </p:sp>
      <p:sp>
        <p:nvSpPr>
          <p:cNvPr id="23" name="Text 21"/>
          <p:cNvSpPr txBox="1"/>
          <p:nvPr/>
        </p:nvSpPr>
        <p:spPr>
          <a:xfrm>
            <a:off x="777240" y="4846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4" name="Text 22"/>
          <p:cNvSpPr txBox="1"/>
          <p:nvPr/>
        </p:nvSpPr>
        <p:spPr>
          <a:xfrm>
            <a:off x="1463040" y="4727448"/>
            <a:ext cx="4251960" cy="969264"/>
          </a:xfrm>
          <a:prstGeom prst="rect">
            <a:avLst/>
          </a:prstGeom>
          <a:noFill/>
          <a:ln/>
        </p:spPr>
        <p:txBody>
          <a:bodyPr wrap="square" lIns="0" tIns="0" rIns="0" bIns="0" rtlCol="0" anchor="ctr"/>
          <a:lstStyle/>
          <a:p>
            <a:pPr indent="0" marL="0">
              <a:lnSpc>
                <a:spcPts val="1600"/>
              </a:lnSpc>
              <a:buNone/>
            </a:pPr>
            <a:r>
              <a:rPr lang="en-US" sz="1250" dirty="0">
                <a:solidFill>
                  <a:srgbClr val="3A2A22"/>
                </a:solidFill>
                <a:latin typeface="Calibri" pitchFamily="34" charset="0"/>
                <a:ea typeface="Calibri" pitchFamily="34" charset="-122"/>
                <a:cs typeface="Calibri" pitchFamily="34" charset="-120"/>
              </a:rPr>
              <a:t>Work collaboratively as a group of interns under the NGO mentor's guidance</a:t>
            </a:r>
            <a:endParaRPr lang="en-US" sz="1250" dirty="0"/>
          </a:p>
        </p:txBody>
      </p:sp>
      <p:sp>
        <p:nvSpPr>
          <p:cNvPr id="25" name="Shape 23"/>
          <p:cNvSpPr/>
          <p:nvPr/>
        </p:nvSpPr>
        <p:spPr>
          <a:xfrm>
            <a:off x="6172200" y="4617720"/>
            <a:ext cx="5349240" cy="1188720"/>
          </a:xfrm>
          <a:prstGeom prst="roundRect">
            <a:avLst>
              <a:gd name="adj" fmla="val 6154"/>
            </a:avLst>
          </a:prstGeom>
          <a:solidFill>
            <a:srgbClr val="F3EFE6"/>
          </a:solidFill>
          <a:ln/>
        </p:spPr>
      </p:sp>
      <p:sp>
        <p:nvSpPr>
          <p:cNvPr id="26" name="Shape 24"/>
          <p:cNvSpPr/>
          <p:nvPr/>
        </p:nvSpPr>
        <p:spPr>
          <a:xfrm>
            <a:off x="6400800" y="4846320"/>
            <a:ext cx="502920" cy="502920"/>
          </a:xfrm>
          <a:prstGeom prst="ellipse">
            <a:avLst/>
          </a:prstGeom>
          <a:solidFill>
            <a:srgbClr val="B85042"/>
          </a:solidFill>
          <a:ln/>
        </p:spPr>
      </p:sp>
      <p:sp>
        <p:nvSpPr>
          <p:cNvPr id="27" name="Text 25"/>
          <p:cNvSpPr txBox="1"/>
          <p:nvPr/>
        </p:nvSpPr>
        <p:spPr>
          <a:xfrm>
            <a:off x="6400800" y="4846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8" name="Text 26"/>
          <p:cNvSpPr txBox="1"/>
          <p:nvPr/>
        </p:nvSpPr>
        <p:spPr>
          <a:xfrm>
            <a:off x="7086600" y="4727448"/>
            <a:ext cx="4251960" cy="969264"/>
          </a:xfrm>
          <a:prstGeom prst="rect">
            <a:avLst/>
          </a:prstGeom>
          <a:noFill/>
          <a:ln/>
        </p:spPr>
        <p:txBody>
          <a:bodyPr wrap="square" lIns="0" tIns="0" rIns="0" bIns="0" rtlCol="0" anchor="ctr"/>
          <a:lstStyle/>
          <a:p>
            <a:pPr indent="0" marL="0">
              <a:lnSpc>
                <a:spcPts val="1600"/>
              </a:lnSpc>
              <a:buNone/>
            </a:pPr>
            <a:r>
              <a:rPr lang="en-US" sz="1250" dirty="0">
                <a:solidFill>
                  <a:srgbClr val="3A2A22"/>
                </a:solidFill>
                <a:latin typeface="Calibri" pitchFamily="34" charset="0"/>
                <a:ea typeface="Calibri" pitchFamily="34" charset="-122"/>
                <a:cs typeface="Calibri" pitchFamily="34" charset="-120"/>
              </a:rPr>
              <a:t>Develop soft skills — patience, communication, empathy and responsibility</a:t>
            </a:r>
            <a:endParaRPr lang="en-US" sz="1250" dirty="0"/>
          </a:p>
        </p:txBody>
      </p:sp>
      <p:sp>
        <p:nvSpPr>
          <p:cNvPr id="29" name="Text 2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30" name="Text 28"/>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4.5</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Scope of the Internship</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sp>
        <p:nvSpPr>
          <p:cNvPr id="5" name="Text 3"/>
          <p:cNvSpPr txBox="1"/>
          <p:nvPr/>
        </p:nvSpPr>
        <p:spPr>
          <a:xfrm>
            <a:off x="548640" y="1737360"/>
            <a:ext cx="5212080" cy="1554480"/>
          </a:xfrm>
          <a:prstGeom prst="rect">
            <a:avLst/>
          </a:prstGeom>
          <a:noFill/>
          <a:ln/>
        </p:spPr>
        <p:txBody>
          <a:bodyPr wrap="square" lIns="0" tIns="0" rIns="0" bIns="0" rtlCol="0" anchor="ctr"/>
          <a:lstStyle/>
          <a:p>
            <a:pPr indent="0" marL="0">
              <a:lnSpc>
                <a:spcPts val="2100"/>
              </a:lnSpc>
              <a:buNone/>
            </a:pPr>
            <a:r>
              <a:rPr lang="en-US" sz="1500" dirty="0">
                <a:solidFill>
                  <a:srgbClr val="3A2A22"/>
                </a:solidFill>
                <a:latin typeface="Calibri" pitchFamily="34" charset="0"/>
                <a:ea typeface="Calibri" pitchFamily="34" charset="-122"/>
                <a:cs typeface="Calibri" pitchFamily="34" charset="-120"/>
              </a:rPr>
              <a:t>The scope of this internship was limited to conducting in-person teaching sessions at the Mahila SewaShakti Foundation centre, once every week on Mondays, for two hours per session, spread across one month.</a:t>
            </a:r>
            <a:endParaRPr lang="en-US" sz="1500" dirty="0"/>
          </a:p>
        </p:txBody>
      </p:sp>
      <p:sp>
        <p:nvSpPr>
          <p:cNvPr id="6" name="Text 4"/>
          <p:cNvSpPr txBox="1"/>
          <p:nvPr/>
        </p:nvSpPr>
        <p:spPr>
          <a:xfrm>
            <a:off x="548640" y="3246120"/>
            <a:ext cx="5212080" cy="1554480"/>
          </a:xfrm>
          <a:prstGeom prst="rect">
            <a:avLst/>
          </a:prstGeom>
          <a:noFill/>
          <a:ln/>
        </p:spPr>
        <p:txBody>
          <a:bodyPr wrap="square" lIns="0" tIns="0" rIns="0" bIns="0" rtlCol="0" anchor="ctr"/>
          <a:lstStyle/>
          <a:p>
            <a:pPr indent="0" marL="0">
              <a:lnSpc>
                <a:spcPts val="2100"/>
              </a:lnSpc>
              <a:buNone/>
            </a:pPr>
            <a:r>
              <a:rPr lang="en-US" sz="1500" dirty="0">
                <a:solidFill>
                  <a:srgbClr val="3A2A22"/>
                </a:solidFill>
                <a:latin typeface="Calibri" pitchFamily="34" charset="0"/>
                <a:ea typeface="Calibri" pitchFamily="34" charset="-122"/>
                <a:cs typeface="Calibri" pitchFamily="34" charset="-120"/>
              </a:rPr>
              <a:t>Sessions covered foundational subjects including Mathematics (counting, tables, multiplication and division) and language skills — tailored to each student's individual learning level rather than a fixed curriculum.</a:t>
            </a:r>
            <a:endParaRPr lang="en-US" sz="1500" dirty="0"/>
          </a:p>
        </p:txBody>
      </p:sp>
      <p:sp>
        <p:nvSpPr>
          <p:cNvPr id="7" name="Shape 5"/>
          <p:cNvSpPr/>
          <p:nvPr/>
        </p:nvSpPr>
        <p:spPr>
          <a:xfrm>
            <a:off x="6126480" y="1737360"/>
            <a:ext cx="5486400" cy="960120"/>
          </a:xfrm>
          <a:prstGeom prst="roundRect">
            <a:avLst>
              <a:gd name="adj" fmla="val 6667"/>
            </a:avLst>
          </a:prstGeom>
          <a:solidFill>
            <a:srgbClr val="FFFFFF"/>
          </a:solidFill>
          <a:ln/>
        </p:spPr>
      </p:sp>
      <p:sp>
        <p:nvSpPr>
          <p:cNvPr id="8" name="Shape 6"/>
          <p:cNvSpPr/>
          <p:nvPr/>
        </p:nvSpPr>
        <p:spPr>
          <a:xfrm>
            <a:off x="6355080" y="1984248"/>
            <a:ext cx="457200" cy="457200"/>
          </a:xfrm>
          <a:prstGeom prst="ellipse">
            <a:avLst/>
          </a:prstGeom>
          <a:solidFill>
            <a:srgbClr val="B85042"/>
          </a:solidFill>
          <a:ln/>
        </p:spPr>
      </p:sp>
      <p:sp>
        <p:nvSpPr>
          <p:cNvPr id="9" name="Text 7"/>
          <p:cNvSpPr txBox="1"/>
          <p:nvPr/>
        </p:nvSpPr>
        <p:spPr>
          <a:xfrm>
            <a:off x="6995160" y="1856232"/>
            <a:ext cx="4480560" cy="274320"/>
          </a:xfrm>
          <a:prstGeom prst="rect">
            <a:avLst/>
          </a:prstGeom>
          <a:noFill/>
          <a:ln/>
        </p:spPr>
        <p:txBody>
          <a:bodyPr wrap="square" lIns="0" tIns="0" rIns="0" bIns="0" rtlCol="0" anchor="ctr"/>
          <a:lstStyle/>
          <a:p>
            <a:pPr indent="0" marL="0">
              <a:buNone/>
            </a:pPr>
            <a:r>
              <a:rPr lang="en-US" sz="1050" b="1" spc="100" kern="0" dirty="0">
                <a:solidFill>
                  <a:srgbClr val="B85042"/>
                </a:solidFill>
                <a:latin typeface="Calibri" pitchFamily="34" charset="0"/>
                <a:ea typeface="Calibri" pitchFamily="34" charset="-122"/>
                <a:cs typeface="Calibri" pitchFamily="34" charset="-120"/>
              </a:rPr>
              <a:t>LOCATION</a:t>
            </a:r>
            <a:endParaRPr lang="en-US" sz="1050" dirty="0"/>
          </a:p>
        </p:txBody>
      </p:sp>
      <p:sp>
        <p:nvSpPr>
          <p:cNvPr id="10" name="Text 8"/>
          <p:cNvSpPr txBox="1"/>
          <p:nvPr/>
        </p:nvSpPr>
        <p:spPr>
          <a:xfrm>
            <a:off x="6995160" y="2139696"/>
            <a:ext cx="4480560" cy="457200"/>
          </a:xfrm>
          <a:prstGeom prst="rect">
            <a:avLst/>
          </a:prstGeom>
          <a:noFill/>
          <a:ln/>
        </p:spPr>
        <p:txBody>
          <a:bodyPr wrap="square" lIns="0" tIns="0" rIns="0" bIns="0" rtlCol="0" anchor="ctr"/>
          <a:lstStyle/>
          <a:p>
            <a:pPr indent="0" marL="0">
              <a:buNone/>
            </a:pPr>
            <a:r>
              <a:rPr lang="en-US" sz="1350" dirty="0">
                <a:solidFill>
                  <a:srgbClr val="3A2A22"/>
                </a:solidFill>
                <a:latin typeface="Calibri" pitchFamily="34" charset="0"/>
                <a:ea typeface="Calibri" pitchFamily="34" charset="-122"/>
                <a:cs typeface="Calibri" pitchFamily="34" charset="-120"/>
              </a:rPr>
              <a:t>Mahila SewaShakti Foundation centre, in-person</a:t>
            </a:r>
            <a:endParaRPr lang="en-US" sz="1350" dirty="0"/>
          </a:p>
        </p:txBody>
      </p:sp>
      <p:sp>
        <p:nvSpPr>
          <p:cNvPr id="11" name="Shape 9"/>
          <p:cNvSpPr/>
          <p:nvPr/>
        </p:nvSpPr>
        <p:spPr>
          <a:xfrm>
            <a:off x="6126480" y="2852928"/>
            <a:ext cx="5486400" cy="960120"/>
          </a:xfrm>
          <a:prstGeom prst="roundRect">
            <a:avLst>
              <a:gd name="adj" fmla="val 6667"/>
            </a:avLst>
          </a:prstGeom>
          <a:solidFill>
            <a:srgbClr val="FFFFFF"/>
          </a:solidFill>
          <a:ln/>
        </p:spPr>
      </p:sp>
      <p:sp>
        <p:nvSpPr>
          <p:cNvPr id="12" name="Shape 10"/>
          <p:cNvSpPr/>
          <p:nvPr/>
        </p:nvSpPr>
        <p:spPr>
          <a:xfrm>
            <a:off x="6355080" y="3099816"/>
            <a:ext cx="457200" cy="457200"/>
          </a:xfrm>
          <a:prstGeom prst="ellipse">
            <a:avLst/>
          </a:prstGeom>
          <a:solidFill>
            <a:srgbClr val="B85042"/>
          </a:solidFill>
          <a:ln/>
        </p:spPr>
      </p:sp>
      <p:sp>
        <p:nvSpPr>
          <p:cNvPr id="13" name="Text 11"/>
          <p:cNvSpPr txBox="1"/>
          <p:nvPr/>
        </p:nvSpPr>
        <p:spPr>
          <a:xfrm>
            <a:off x="6995160" y="2971800"/>
            <a:ext cx="4480560" cy="274320"/>
          </a:xfrm>
          <a:prstGeom prst="rect">
            <a:avLst/>
          </a:prstGeom>
          <a:noFill/>
          <a:ln/>
        </p:spPr>
        <p:txBody>
          <a:bodyPr wrap="square" lIns="0" tIns="0" rIns="0" bIns="0" rtlCol="0" anchor="ctr"/>
          <a:lstStyle/>
          <a:p>
            <a:pPr indent="0" marL="0">
              <a:buNone/>
            </a:pPr>
            <a:r>
              <a:rPr lang="en-US" sz="1050" b="1" spc="100" kern="0" dirty="0">
                <a:solidFill>
                  <a:srgbClr val="B85042"/>
                </a:solidFill>
                <a:latin typeface="Calibri" pitchFamily="34" charset="0"/>
                <a:ea typeface="Calibri" pitchFamily="34" charset="-122"/>
                <a:cs typeface="Calibri" pitchFamily="34" charset="-120"/>
              </a:rPr>
              <a:t>FREQUENCY</a:t>
            </a:r>
            <a:endParaRPr lang="en-US" sz="1050" dirty="0"/>
          </a:p>
        </p:txBody>
      </p:sp>
      <p:sp>
        <p:nvSpPr>
          <p:cNvPr id="14" name="Text 12"/>
          <p:cNvSpPr txBox="1"/>
          <p:nvPr/>
        </p:nvSpPr>
        <p:spPr>
          <a:xfrm>
            <a:off x="6995160" y="3255264"/>
            <a:ext cx="4480560" cy="457200"/>
          </a:xfrm>
          <a:prstGeom prst="rect">
            <a:avLst/>
          </a:prstGeom>
          <a:noFill/>
          <a:ln/>
        </p:spPr>
        <p:txBody>
          <a:bodyPr wrap="square" lIns="0" tIns="0" rIns="0" bIns="0" rtlCol="0" anchor="ctr"/>
          <a:lstStyle/>
          <a:p>
            <a:pPr indent="0" marL="0">
              <a:buNone/>
            </a:pPr>
            <a:r>
              <a:rPr lang="en-US" sz="1350" dirty="0">
                <a:solidFill>
                  <a:srgbClr val="3A2A22"/>
                </a:solidFill>
                <a:latin typeface="Calibri" pitchFamily="34" charset="0"/>
                <a:ea typeface="Calibri" pitchFamily="34" charset="-122"/>
                <a:cs typeface="Calibri" pitchFamily="34" charset="-120"/>
              </a:rPr>
              <a:t>Weekly, every Monday</a:t>
            </a:r>
            <a:endParaRPr lang="en-US" sz="1350" dirty="0"/>
          </a:p>
        </p:txBody>
      </p:sp>
      <p:sp>
        <p:nvSpPr>
          <p:cNvPr id="15" name="Shape 13"/>
          <p:cNvSpPr/>
          <p:nvPr/>
        </p:nvSpPr>
        <p:spPr>
          <a:xfrm>
            <a:off x="6126480" y="3968496"/>
            <a:ext cx="5486400" cy="960120"/>
          </a:xfrm>
          <a:prstGeom prst="roundRect">
            <a:avLst>
              <a:gd name="adj" fmla="val 6667"/>
            </a:avLst>
          </a:prstGeom>
          <a:solidFill>
            <a:srgbClr val="FFFFFF"/>
          </a:solidFill>
          <a:ln/>
        </p:spPr>
      </p:sp>
      <p:sp>
        <p:nvSpPr>
          <p:cNvPr id="16" name="Shape 14"/>
          <p:cNvSpPr/>
          <p:nvPr/>
        </p:nvSpPr>
        <p:spPr>
          <a:xfrm>
            <a:off x="6355080" y="4215384"/>
            <a:ext cx="457200" cy="457200"/>
          </a:xfrm>
          <a:prstGeom prst="ellipse">
            <a:avLst/>
          </a:prstGeom>
          <a:solidFill>
            <a:srgbClr val="B85042"/>
          </a:solidFill>
          <a:ln/>
        </p:spPr>
      </p:sp>
      <p:sp>
        <p:nvSpPr>
          <p:cNvPr id="17" name="Text 15"/>
          <p:cNvSpPr txBox="1"/>
          <p:nvPr/>
        </p:nvSpPr>
        <p:spPr>
          <a:xfrm>
            <a:off x="6995160" y="4087368"/>
            <a:ext cx="4480560" cy="274320"/>
          </a:xfrm>
          <a:prstGeom prst="rect">
            <a:avLst/>
          </a:prstGeom>
          <a:noFill/>
          <a:ln/>
        </p:spPr>
        <p:txBody>
          <a:bodyPr wrap="square" lIns="0" tIns="0" rIns="0" bIns="0" rtlCol="0" anchor="ctr"/>
          <a:lstStyle/>
          <a:p>
            <a:pPr indent="0" marL="0">
              <a:buNone/>
            </a:pPr>
            <a:r>
              <a:rPr lang="en-US" sz="1050" b="1" spc="100" kern="0" dirty="0">
                <a:solidFill>
                  <a:srgbClr val="B85042"/>
                </a:solidFill>
                <a:latin typeface="Calibri" pitchFamily="34" charset="0"/>
                <a:ea typeface="Calibri" pitchFamily="34" charset="-122"/>
                <a:cs typeface="Calibri" pitchFamily="34" charset="-120"/>
              </a:rPr>
              <a:t>DURATION</a:t>
            </a:r>
            <a:endParaRPr lang="en-US" sz="1050" dirty="0"/>
          </a:p>
        </p:txBody>
      </p:sp>
      <p:sp>
        <p:nvSpPr>
          <p:cNvPr id="18" name="Text 16"/>
          <p:cNvSpPr txBox="1"/>
          <p:nvPr/>
        </p:nvSpPr>
        <p:spPr>
          <a:xfrm>
            <a:off x="6995160" y="4370832"/>
            <a:ext cx="4480560" cy="457200"/>
          </a:xfrm>
          <a:prstGeom prst="rect">
            <a:avLst/>
          </a:prstGeom>
          <a:noFill/>
          <a:ln/>
        </p:spPr>
        <p:txBody>
          <a:bodyPr wrap="square" lIns="0" tIns="0" rIns="0" bIns="0" rtlCol="0" anchor="ctr"/>
          <a:lstStyle/>
          <a:p>
            <a:pPr indent="0" marL="0">
              <a:buNone/>
            </a:pPr>
            <a:r>
              <a:rPr lang="en-US" sz="1350" dirty="0">
                <a:solidFill>
                  <a:srgbClr val="3A2A22"/>
                </a:solidFill>
                <a:latin typeface="Calibri" pitchFamily="34" charset="0"/>
                <a:ea typeface="Calibri" pitchFamily="34" charset="-122"/>
                <a:cs typeface="Calibri" pitchFamily="34" charset="-120"/>
              </a:rPr>
              <a:t>2 hours per session, 1 month</a:t>
            </a:r>
            <a:endParaRPr lang="en-US" sz="1350" dirty="0"/>
          </a:p>
        </p:txBody>
      </p:sp>
      <p:sp>
        <p:nvSpPr>
          <p:cNvPr id="19" name="Shape 17"/>
          <p:cNvSpPr/>
          <p:nvPr/>
        </p:nvSpPr>
        <p:spPr>
          <a:xfrm>
            <a:off x="6126480" y="5084064"/>
            <a:ext cx="5486400" cy="960120"/>
          </a:xfrm>
          <a:prstGeom prst="roundRect">
            <a:avLst>
              <a:gd name="adj" fmla="val 6667"/>
            </a:avLst>
          </a:prstGeom>
          <a:solidFill>
            <a:srgbClr val="FFFFFF"/>
          </a:solidFill>
          <a:ln/>
        </p:spPr>
      </p:sp>
      <p:sp>
        <p:nvSpPr>
          <p:cNvPr id="20" name="Shape 18"/>
          <p:cNvSpPr/>
          <p:nvPr/>
        </p:nvSpPr>
        <p:spPr>
          <a:xfrm>
            <a:off x="6355080" y="5330952"/>
            <a:ext cx="457200" cy="457200"/>
          </a:xfrm>
          <a:prstGeom prst="ellipse">
            <a:avLst/>
          </a:prstGeom>
          <a:solidFill>
            <a:srgbClr val="B85042"/>
          </a:solidFill>
          <a:ln/>
        </p:spPr>
      </p:sp>
      <p:sp>
        <p:nvSpPr>
          <p:cNvPr id="21" name="Text 19"/>
          <p:cNvSpPr txBox="1"/>
          <p:nvPr/>
        </p:nvSpPr>
        <p:spPr>
          <a:xfrm>
            <a:off x="6995160" y="5202936"/>
            <a:ext cx="4480560" cy="274320"/>
          </a:xfrm>
          <a:prstGeom prst="rect">
            <a:avLst/>
          </a:prstGeom>
          <a:noFill/>
          <a:ln/>
        </p:spPr>
        <p:txBody>
          <a:bodyPr wrap="square" lIns="0" tIns="0" rIns="0" bIns="0" rtlCol="0" anchor="ctr"/>
          <a:lstStyle/>
          <a:p>
            <a:pPr indent="0" marL="0">
              <a:buNone/>
            </a:pPr>
            <a:r>
              <a:rPr lang="en-US" sz="1050" b="1" spc="100" kern="0" dirty="0">
                <a:solidFill>
                  <a:srgbClr val="B85042"/>
                </a:solidFill>
                <a:latin typeface="Calibri" pitchFamily="34" charset="0"/>
                <a:ea typeface="Calibri" pitchFamily="34" charset="-122"/>
                <a:cs typeface="Calibri" pitchFamily="34" charset="-120"/>
              </a:rPr>
              <a:t>SUBJECTS</a:t>
            </a:r>
            <a:endParaRPr lang="en-US" sz="1050" dirty="0"/>
          </a:p>
        </p:txBody>
      </p:sp>
      <p:sp>
        <p:nvSpPr>
          <p:cNvPr id="22" name="Text 20"/>
          <p:cNvSpPr txBox="1"/>
          <p:nvPr/>
        </p:nvSpPr>
        <p:spPr>
          <a:xfrm>
            <a:off x="6995160" y="5486400"/>
            <a:ext cx="4480560" cy="457200"/>
          </a:xfrm>
          <a:prstGeom prst="rect">
            <a:avLst/>
          </a:prstGeom>
          <a:noFill/>
          <a:ln/>
        </p:spPr>
        <p:txBody>
          <a:bodyPr wrap="square" lIns="0" tIns="0" rIns="0" bIns="0" rtlCol="0" anchor="ctr"/>
          <a:lstStyle/>
          <a:p>
            <a:pPr indent="0" marL="0">
              <a:buNone/>
            </a:pPr>
            <a:r>
              <a:rPr lang="en-US" sz="1350" dirty="0">
                <a:solidFill>
                  <a:srgbClr val="3A2A22"/>
                </a:solidFill>
                <a:latin typeface="Calibri" pitchFamily="34" charset="0"/>
                <a:ea typeface="Calibri" pitchFamily="34" charset="-122"/>
                <a:cs typeface="Calibri" pitchFamily="34" charset="-120"/>
              </a:rPr>
              <a:t>Mathematics &amp; Language skills</a:t>
            </a:r>
            <a:endParaRPr lang="en-US" sz="135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24" name="Text 2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4.6</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Teaching Methodology &amp; Activities</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sp>
        <p:nvSpPr>
          <p:cNvPr id="5" name="Text 3"/>
          <p:cNvSpPr txBox="1"/>
          <p:nvPr/>
        </p:nvSpPr>
        <p:spPr>
          <a:xfrm>
            <a:off x="548640" y="1691640"/>
            <a:ext cx="10881360" cy="960120"/>
          </a:xfrm>
          <a:prstGeom prst="rect">
            <a:avLst/>
          </a:prstGeom>
          <a:noFill/>
          <a:ln/>
        </p:spPr>
        <p:txBody>
          <a:bodyPr wrap="square" lIns="0" tIns="0" rIns="0" bIns="0" rtlCol="0" anchor="ctr"/>
          <a:lstStyle/>
          <a:p>
            <a:pPr indent="0" marL="0">
              <a:lnSpc>
                <a:spcPts val="2000"/>
              </a:lnSpc>
              <a:buNone/>
            </a:pPr>
            <a:r>
              <a:rPr lang="en-US" sz="1450" dirty="0">
                <a:solidFill>
                  <a:srgbClr val="3A2A22"/>
                </a:solidFill>
                <a:latin typeface="Calibri" pitchFamily="34" charset="0"/>
                <a:ea typeface="Calibri" pitchFamily="34" charset="-122"/>
                <a:cs typeface="Calibri" pitchFamily="34" charset="-120"/>
              </a:rPr>
              <a:t>A hands-on, student-centric approach: each session began with a quick recap of the prior week, followed by focused teaching, one-on-one doubt-clearing, and group activities. Interns split up to cover smaller groups so no child was left behind.</a:t>
            </a:r>
            <a:endParaRPr lang="en-US" sz="1450" dirty="0"/>
          </a:p>
        </p:txBody>
      </p:sp>
      <p:sp>
        <p:nvSpPr>
          <p:cNvPr id="6" name="Shape 4"/>
          <p:cNvSpPr/>
          <p:nvPr/>
        </p:nvSpPr>
        <p:spPr>
          <a:xfrm>
            <a:off x="548640" y="2880360"/>
            <a:ext cx="2606040" cy="2651760"/>
          </a:xfrm>
          <a:prstGeom prst="roundRect">
            <a:avLst>
              <a:gd name="adj" fmla="val 2807"/>
            </a:avLst>
          </a:prstGeom>
          <a:solidFill>
            <a:srgbClr val="F3EFE6"/>
          </a:solidFill>
          <a:ln w="15875">
            <a:solidFill>
              <a:srgbClr val="A7BEAE"/>
            </a:solidFill>
            <a:prstDash val="solid"/>
          </a:ln>
        </p:spPr>
      </p:sp>
      <p:sp>
        <p:nvSpPr>
          <p:cNvPr id="7" name="Text 5"/>
          <p:cNvSpPr txBox="1"/>
          <p:nvPr/>
        </p:nvSpPr>
        <p:spPr>
          <a:xfrm>
            <a:off x="777240" y="3063240"/>
            <a:ext cx="1371600" cy="502920"/>
          </a:xfrm>
          <a:prstGeom prst="rect">
            <a:avLst/>
          </a:prstGeom>
          <a:noFill/>
          <a:ln/>
        </p:spPr>
        <p:txBody>
          <a:bodyPr wrap="square" lIns="0" tIns="0" rIns="0" bIns="0" rtlCol="0" anchor="ctr"/>
          <a:lstStyle/>
          <a:p>
            <a:pPr indent="0" marL="0">
              <a:buNone/>
            </a:pPr>
            <a:r>
              <a:rPr lang="en-US" sz="2600" b="1" dirty="0">
                <a:solidFill>
                  <a:srgbClr val="B85042"/>
                </a:solidFill>
                <a:latin typeface="Cambria" pitchFamily="34" charset="0"/>
                <a:ea typeface="Cambria" pitchFamily="34" charset="-122"/>
                <a:cs typeface="Cambria" pitchFamily="34" charset="-120"/>
              </a:rPr>
              <a:t>01</a:t>
            </a:r>
            <a:endParaRPr lang="en-US" sz="2600" dirty="0"/>
          </a:p>
        </p:txBody>
      </p:sp>
      <p:sp>
        <p:nvSpPr>
          <p:cNvPr id="8" name="Text 6"/>
          <p:cNvSpPr txBox="1"/>
          <p:nvPr/>
        </p:nvSpPr>
        <p:spPr>
          <a:xfrm>
            <a:off x="777240" y="3611880"/>
            <a:ext cx="2148840" cy="502920"/>
          </a:xfrm>
          <a:prstGeom prst="rect">
            <a:avLst/>
          </a:prstGeom>
          <a:noFill/>
          <a:ln/>
        </p:spPr>
        <p:txBody>
          <a:bodyPr wrap="square" lIns="0" tIns="0" rIns="0" bIns="0" rtlCol="0" anchor="ctr"/>
          <a:lstStyle/>
          <a:p>
            <a:pPr indent="0" marL="0">
              <a:buNone/>
            </a:pPr>
            <a:r>
              <a:rPr lang="en-US" sz="1450" b="1" dirty="0">
                <a:solidFill>
                  <a:srgbClr val="3A2A22"/>
                </a:solidFill>
                <a:latin typeface="Cambria" pitchFamily="34" charset="0"/>
                <a:ea typeface="Cambria" pitchFamily="34" charset="-122"/>
                <a:cs typeface="Cambria" pitchFamily="34" charset="-120"/>
              </a:rPr>
              <a:t>Recap</a:t>
            </a:r>
            <a:endParaRPr lang="en-US" sz="1450" dirty="0"/>
          </a:p>
        </p:txBody>
      </p:sp>
      <p:sp>
        <p:nvSpPr>
          <p:cNvPr id="9" name="Text 7"/>
          <p:cNvSpPr txBox="1"/>
          <p:nvPr/>
        </p:nvSpPr>
        <p:spPr>
          <a:xfrm>
            <a:off x="777240" y="4114800"/>
            <a:ext cx="2148840" cy="1280160"/>
          </a:xfrm>
          <a:prstGeom prst="rect">
            <a:avLst/>
          </a:prstGeom>
          <a:noFill/>
          <a:ln/>
        </p:spPr>
        <p:txBody>
          <a:bodyPr wrap="square" lIns="0" tIns="0" rIns="0" bIns="0" rtlCol="0" anchor="ctr"/>
          <a:lstStyle/>
          <a:p>
            <a:pPr indent="0" marL="0">
              <a:lnSpc>
                <a:spcPts val="1500"/>
              </a:lnSpc>
              <a:buNone/>
            </a:pPr>
            <a:r>
              <a:rPr lang="en-US" sz="1150" dirty="0">
                <a:solidFill>
                  <a:srgbClr val="7A6A61"/>
                </a:solidFill>
                <a:latin typeface="Calibri" pitchFamily="34" charset="0"/>
                <a:ea typeface="Calibri" pitchFamily="34" charset="-122"/>
                <a:cs typeface="Calibri" pitchFamily="34" charset="-120"/>
              </a:rPr>
              <a:t>Quick assessment of what students remembered from the previous week.</a:t>
            </a:r>
            <a:endParaRPr lang="en-US" sz="1150" dirty="0"/>
          </a:p>
        </p:txBody>
      </p:sp>
      <p:sp>
        <p:nvSpPr>
          <p:cNvPr id="10" name="Text 8"/>
          <p:cNvSpPr txBox="1"/>
          <p:nvPr/>
        </p:nvSpPr>
        <p:spPr>
          <a:xfrm>
            <a:off x="3200400" y="3566160"/>
            <a:ext cx="320040" cy="548640"/>
          </a:xfrm>
          <a:prstGeom prst="rect">
            <a:avLst/>
          </a:prstGeom>
          <a:noFill/>
          <a:ln/>
        </p:spPr>
        <p:txBody>
          <a:bodyPr wrap="square" lIns="0" tIns="0" rIns="0" bIns="0" rtlCol="0" anchor="ctr"/>
          <a:lstStyle/>
          <a:p>
            <a:pPr algn="ctr" indent="0" marL="0">
              <a:buNone/>
            </a:pPr>
            <a:r>
              <a:rPr lang="en-US" sz="2600" b="1" dirty="0">
                <a:solidFill>
                  <a:srgbClr val="A7BEAE"/>
                </a:solidFill>
                <a:latin typeface="Cambria" pitchFamily="34" charset="0"/>
                <a:ea typeface="Cambria" pitchFamily="34" charset="-122"/>
                <a:cs typeface="Cambria" pitchFamily="34" charset="-120"/>
              </a:rPr>
              <a:t>›</a:t>
            </a:r>
            <a:endParaRPr lang="en-US" sz="2600" dirty="0"/>
          </a:p>
        </p:txBody>
      </p:sp>
      <p:sp>
        <p:nvSpPr>
          <p:cNvPr id="11" name="Shape 9"/>
          <p:cNvSpPr/>
          <p:nvPr/>
        </p:nvSpPr>
        <p:spPr>
          <a:xfrm>
            <a:off x="3447288" y="2880360"/>
            <a:ext cx="2606040" cy="2651760"/>
          </a:xfrm>
          <a:prstGeom prst="roundRect">
            <a:avLst>
              <a:gd name="adj" fmla="val 2807"/>
            </a:avLst>
          </a:prstGeom>
          <a:solidFill>
            <a:srgbClr val="FFFFFF"/>
          </a:solidFill>
          <a:ln w="15875">
            <a:solidFill>
              <a:srgbClr val="A7BEAE"/>
            </a:solidFill>
            <a:prstDash val="solid"/>
          </a:ln>
        </p:spPr>
      </p:sp>
      <p:sp>
        <p:nvSpPr>
          <p:cNvPr id="12" name="Text 10"/>
          <p:cNvSpPr txBox="1"/>
          <p:nvPr/>
        </p:nvSpPr>
        <p:spPr>
          <a:xfrm>
            <a:off x="3675888" y="3063240"/>
            <a:ext cx="1371600" cy="502920"/>
          </a:xfrm>
          <a:prstGeom prst="rect">
            <a:avLst/>
          </a:prstGeom>
          <a:noFill/>
          <a:ln/>
        </p:spPr>
        <p:txBody>
          <a:bodyPr wrap="square" lIns="0" tIns="0" rIns="0" bIns="0" rtlCol="0" anchor="ctr"/>
          <a:lstStyle/>
          <a:p>
            <a:pPr indent="0" marL="0">
              <a:buNone/>
            </a:pPr>
            <a:r>
              <a:rPr lang="en-US" sz="2600" b="1" dirty="0">
                <a:solidFill>
                  <a:srgbClr val="B85042"/>
                </a:solidFill>
                <a:latin typeface="Cambria" pitchFamily="34" charset="0"/>
                <a:ea typeface="Cambria" pitchFamily="34" charset="-122"/>
                <a:cs typeface="Cambria" pitchFamily="34" charset="-120"/>
              </a:rPr>
              <a:t>02</a:t>
            </a:r>
            <a:endParaRPr lang="en-US" sz="2600" dirty="0"/>
          </a:p>
        </p:txBody>
      </p:sp>
      <p:sp>
        <p:nvSpPr>
          <p:cNvPr id="13" name="Text 11"/>
          <p:cNvSpPr txBox="1"/>
          <p:nvPr/>
        </p:nvSpPr>
        <p:spPr>
          <a:xfrm>
            <a:off x="3675888" y="3611880"/>
            <a:ext cx="2148840" cy="502920"/>
          </a:xfrm>
          <a:prstGeom prst="rect">
            <a:avLst/>
          </a:prstGeom>
          <a:noFill/>
          <a:ln/>
        </p:spPr>
        <p:txBody>
          <a:bodyPr wrap="square" lIns="0" tIns="0" rIns="0" bIns="0" rtlCol="0" anchor="ctr"/>
          <a:lstStyle/>
          <a:p>
            <a:pPr indent="0" marL="0">
              <a:buNone/>
            </a:pPr>
            <a:r>
              <a:rPr lang="en-US" sz="1450" b="1" dirty="0">
                <a:solidFill>
                  <a:srgbClr val="3A2A22"/>
                </a:solidFill>
                <a:latin typeface="Cambria" pitchFamily="34" charset="0"/>
                <a:ea typeface="Cambria" pitchFamily="34" charset="-122"/>
                <a:cs typeface="Cambria" pitchFamily="34" charset="-120"/>
              </a:rPr>
              <a:t>Focused Teaching</a:t>
            </a:r>
            <a:endParaRPr lang="en-US" sz="1450" dirty="0"/>
          </a:p>
        </p:txBody>
      </p:sp>
      <p:sp>
        <p:nvSpPr>
          <p:cNvPr id="14" name="Text 12"/>
          <p:cNvSpPr txBox="1"/>
          <p:nvPr/>
        </p:nvSpPr>
        <p:spPr>
          <a:xfrm>
            <a:off x="3675888" y="4114800"/>
            <a:ext cx="2148840" cy="1280160"/>
          </a:xfrm>
          <a:prstGeom prst="rect">
            <a:avLst/>
          </a:prstGeom>
          <a:noFill/>
          <a:ln/>
        </p:spPr>
        <p:txBody>
          <a:bodyPr wrap="square" lIns="0" tIns="0" rIns="0" bIns="0" rtlCol="0" anchor="ctr"/>
          <a:lstStyle/>
          <a:p>
            <a:pPr indent="0" marL="0">
              <a:lnSpc>
                <a:spcPts val="1500"/>
              </a:lnSpc>
              <a:buNone/>
            </a:pPr>
            <a:r>
              <a:rPr lang="en-US" sz="1150" dirty="0">
                <a:solidFill>
                  <a:srgbClr val="7A6A61"/>
                </a:solidFill>
                <a:latin typeface="Calibri" pitchFamily="34" charset="0"/>
                <a:ea typeface="Calibri" pitchFamily="34" charset="-122"/>
                <a:cs typeface="Calibri" pitchFamily="34" charset="-120"/>
              </a:rPr>
              <a:t>Whiteboard instruction split by class and learning level.</a:t>
            </a:r>
            <a:endParaRPr lang="en-US" sz="1150" dirty="0"/>
          </a:p>
        </p:txBody>
      </p:sp>
      <p:sp>
        <p:nvSpPr>
          <p:cNvPr id="15" name="Text 13"/>
          <p:cNvSpPr txBox="1"/>
          <p:nvPr/>
        </p:nvSpPr>
        <p:spPr>
          <a:xfrm>
            <a:off x="6099048" y="3566160"/>
            <a:ext cx="320040" cy="548640"/>
          </a:xfrm>
          <a:prstGeom prst="rect">
            <a:avLst/>
          </a:prstGeom>
          <a:noFill/>
          <a:ln/>
        </p:spPr>
        <p:txBody>
          <a:bodyPr wrap="square" lIns="0" tIns="0" rIns="0" bIns="0" rtlCol="0" anchor="ctr"/>
          <a:lstStyle/>
          <a:p>
            <a:pPr algn="ctr" indent="0" marL="0">
              <a:buNone/>
            </a:pPr>
            <a:r>
              <a:rPr lang="en-US" sz="2600" b="1" dirty="0">
                <a:solidFill>
                  <a:srgbClr val="A7BEAE"/>
                </a:solidFill>
                <a:latin typeface="Cambria" pitchFamily="34" charset="0"/>
                <a:ea typeface="Cambria" pitchFamily="34" charset="-122"/>
                <a:cs typeface="Cambria" pitchFamily="34" charset="-120"/>
              </a:rPr>
              <a:t>›</a:t>
            </a:r>
            <a:endParaRPr lang="en-US" sz="2600" dirty="0"/>
          </a:p>
        </p:txBody>
      </p:sp>
      <p:sp>
        <p:nvSpPr>
          <p:cNvPr id="16" name="Shape 14"/>
          <p:cNvSpPr/>
          <p:nvPr/>
        </p:nvSpPr>
        <p:spPr>
          <a:xfrm>
            <a:off x="6345936" y="2880360"/>
            <a:ext cx="2606040" cy="2651760"/>
          </a:xfrm>
          <a:prstGeom prst="roundRect">
            <a:avLst>
              <a:gd name="adj" fmla="val 2807"/>
            </a:avLst>
          </a:prstGeom>
          <a:solidFill>
            <a:srgbClr val="F3EFE6"/>
          </a:solidFill>
          <a:ln w="15875">
            <a:solidFill>
              <a:srgbClr val="A7BEAE"/>
            </a:solidFill>
            <a:prstDash val="solid"/>
          </a:ln>
        </p:spPr>
      </p:sp>
      <p:sp>
        <p:nvSpPr>
          <p:cNvPr id="17" name="Text 15"/>
          <p:cNvSpPr txBox="1"/>
          <p:nvPr/>
        </p:nvSpPr>
        <p:spPr>
          <a:xfrm>
            <a:off x="6574536" y="3063240"/>
            <a:ext cx="1371600" cy="502920"/>
          </a:xfrm>
          <a:prstGeom prst="rect">
            <a:avLst/>
          </a:prstGeom>
          <a:noFill/>
          <a:ln/>
        </p:spPr>
        <p:txBody>
          <a:bodyPr wrap="square" lIns="0" tIns="0" rIns="0" bIns="0" rtlCol="0" anchor="ctr"/>
          <a:lstStyle/>
          <a:p>
            <a:pPr indent="0" marL="0">
              <a:buNone/>
            </a:pPr>
            <a:r>
              <a:rPr lang="en-US" sz="2600" b="1" dirty="0">
                <a:solidFill>
                  <a:srgbClr val="B85042"/>
                </a:solidFill>
                <a:latin typeface="Cambria" pitchFamily="34" charset="0"/>
                <a:ea typeface="Cambria" pitchFamily="34" charset="-122"/>
                <a:cs typeface="Cambria" pitchFamily="34" charset="-120"/>
              </a:rPr>
              <a:t>03</a:t>
            </a:r>
            <a:endParaRPr lang="en-US" sz="2600" dirty="0"/>
          </a:p>
        </p:txBody>
      </p:sp>
      <p:sp>
        <p:nvSpPr>
          <p:cNvPr id="18" name="Text 16"/>
          <p:cNvSpPr txBox="1"/>
          <p:nvPr/>
        </p:nvSpPr>
        <p:spPr>
          <a:xfrm>
            <a:off x="6574536" y="3611880"/>
            <a:ext cx="2148840" cy="502920"/>
          </a:xfrm>
          <a:prstGeom prst="rect">
            <a:avLst/>
          </a:prstGeom>
          <a:noFill/>
          <a:ln/>
        </p:spPr>
        <p:txBody>
          <a:bodyPr wrap="square" lIns="0" tIns="0" rIns="0" bIns="0" rtlCol="0" anchor="ctr"/>
          <a:lstStyle/>
          <a:p>
            <a:pPr indent="0" marL="0">
              <a:buNone/>
            </a:pPr>
            <a:r>
              <a:rPr lang="en-US" sz="1450" b="1" dirty="0">
                <a:solidFill>
                  <a:srgbClr val="3A2A22"/>
                </a:solidFill>
                <a:latin typeface="Cambria" pitchFamily="34" charset="0"/>
                <a:ea typeface="Cambria" pitchFamily="34" charset="-122"/>
                <a:cs typeface="Cambria" pitchFamily="34" charset="-120"/>
              </a:rPr>
              <a:t>Doubt Clearing</a:t>
            </a:r>
            <a:endParaRPr lang="en-US" sz="1450" dirty="0"/>
          </a:p>
        </p:txBody>
      </p:sp>
      <p:sp>
        <p:nvSpPr>
          <p:cNvPr id="19" name="Text 17"/>
          <p:cNvSpPr txBox="1"/>
          <p:nvPr/>
        </p:nvSpPr>
        <p:spPr>
          <a:xfrm>
            <a:off x="6574536" y="4114800"/>
            <a:ext cx="2148840" cy="1280160"/>
          </a:xfrm>
          <a:prstGeom prst="rect">
            <a:avLst/>
          </a:prstGeom>
          <a:noFill/>
          <a:ln/>
        </p:spPr>
        <p:txBody>
          <a:bodyPr wrap="square" lIns="0" tIns="0" rIns="0" bIns="0" rtlCol="0" anchor="ctr"/>
          <a:lstStyle/>
          <a:p>
            <a:pPr indent="0" marL="0">
              <a:lnSpc>
                <a:spcPts val="1500"/>
              </a:lnSpc>
              <a:buNone/>
            </a:pPr>
            <a:r>
              <a:rPr lang="en-US" sz="1150" dirty="0">
                <a:solidFill>
                  <a:srgbClr val="7A6A61"/>
                </a:solidFill>
                <a:latin typeface="Calibri" pitchFamily="34" charset="0"/>
                <a:ea typeface="Calibri" pitchFamily="34" charset="-122"/>
                <a:cs typeface="Calibri" pitchFamily="34" charset="-120"/>
              </a:rPr>
              <a:t>One-on-one attention for students who needed extra support.</a:t>
            </a:r>
            <a:endParaRPr lang="en-US" sz="1150" dirty="0"/>
          </a:p>
        </p:txBody>
      </p:sp>
      <p:sp>
        <p:nvSpPr>
          <p:cNvPr id="20" name="Text 18"/>
          <p:cNvSpPr txBox="1"/>
          <p:nvPr/>
        </p:nvSpPr>
        <p:spPr>
          <a:xfrm>
            <a:off x="8997696" y="3566160"/>
            <a:ext cx="320040" cy="548640"/>
          </a:xfrm>
          <a:prstGeom prst="rect">
            <a:avLst/>
          </a:prstGeom>
          <a:noFill/>
          <a:ln/>
        </p:spPr>
        <p:txBody>
          <a:bodyPr wrap="square" lIns="0" tIns="0" rIns="0" bIns="0" rtlCol="0" anchor="ctr"/>
          <a:lstStyle/>
          <a:p>
            <a:pPr algn="ctr" indent="0" marL="0">
              <a:buNone/>
            </a:pPr>
            <a:r>
              <a:rPr lang="en-US" sz="2600" b="1" dirty="0">
                <a:solidFill>
                  <a:srgbClr val="A7BEAE"/>
                </a:solidFill>
                <a:latin typeface="Cambria" pitchFamily="34" charset="0"/>
                <a:ea typeface="Cambria" pitchFamily="34" charset="-122"/>
                <a:cs typeface="Cambria" pitchFamily="34" charset="-120"/>
              </a:rPr>
              <a:t>›</a:t>
            </a:r>
            <a:endParaRPr lang="en-US" sz="2600" dirty="0"/>
          </a:p>
        </p:txBody>
      </p:sp>
      <p:sp>
        <p:nvSpPr>
          <p:cNvPr id="21" name="Shape 19"/>
          <p:cNvSpPr/>
          <p:nvPr/>
        </p:nvSpPr>
        <p:spPr>
          <a:xfrm>
            <a:off x="9244584" y="2880360"/>
            <a:ext cx="2606040" cy="2651760"/>
          </a:xfrm>
          <a:prstGeom prst="roundRect">
            <a:avLst>
              <a:gd name="adj" fmla="val 2807"/>
            </a:avLst>
          </a:prstGeom>
          <a:solidFill>
            <a:srgbClr val="FFFFFF"/>
          </a:solidFill>
          <a:ln w="15875">
            <a:solidFill>
              <a:srgbClr val="A7BEAE"/>
            </a:solidFill>
            <a:prstDash val="solid"/>
          </a:ln>
        </p:spPr>
      </p:sp>
      <p:sp>
        <p:nvSpPr>
          <p:cNvPr id="22" name="Text 20"/>
          <p:cNvSpPr txBox="1"/>
          <p:nvPr/>
        </p:nvSpPr>
        <p:spPr>
          <a:xfrm>
            <a:off x="9473184" y="3063240"/>
            <a:ext cx="1371600" cy="502920"/>
          </a:xfrm>
          <a:prstGeom prst="rect">
            <a:avLst/>
          </a:prstGeom>
          <a:noFill/>
          <a:ln/>
        </p:spPr>
        <p:txBody>
          <a:bodyPr wrap="square" lIns="0" tIns="0" rIns="0" bIns="0" rtlCol="0" anchor="ctr"/>
          <a:lstStyle/>
          <a:p>
            <a:pPr indent="0" marL="0">
              <a:buNone/>
            </a:pPr>
            <a:r>
              <a:rPr lang="en-US" sz="2600" b="1" dirty="0">
                <a:solidFill>
                  <a:srgbClr val="B85042"/>
                </a:solidFill>
                <a:latin typeface="Cambria" pitchFamily="34" charset="0"/>
                <a:ea typeface="Cambria" pitchFamily="34" charset="-122"/>
                <a:cs typeface="Cambria" pitchFamily="34" charset="-120"/>
              </a:rPr>
              <a:t>04</a:t>
            </a:r>
            <a:endParaRPr lang="en-US" sz="2600" dirty="0"/>
          </a:p>
        </p:txBody>
      </p:sp>
      <p:sp>
        <p:nvSpPr>
          <p:cNvPr id="23" name="Text 21"/>
          <p:cNvSpPr txBox="1"/>
          <p:nvPr/>
        </p:nvSpPr>
        <p:spPr>
          <a:xfrm>
            <a:off x="9473184" y="3611880"/>
            <a:ext cx="2148840" cy="502920"/>
          </a:xfrm>
          <a:prstGeom prst="rect">
            <a:avLst/>
          </a:prstGeom>
          <a:noFill/>
          <a:ln/>
        </p:spPr>
        <p:txBody>
          <a:bodyPr wrap="square" lIns="0" tIns="0" rIns="0" bIns="0" rtlCol="0" anchor="ctr"/>
          <a:lstStyle/>
          <a:p>
            <a:pPr indent="0" marL="0">
              <a:buNone/>
            </a:pPr>
            <a:r>
              <a:rPr lang="en-US" sz="1450" b="1" dirty="0">
                <a:solidFill>
                  <a:srgbClr val="3A2A22"/>
                </a:solidFill>
                <a:latin typeface="Cambria" pitchFamily="34" charset="0"/>
                <a:ea typeface="Cambria" pitchFamily="34" charset="-122"/>
                <a:cs typeface="Cambria" pitchFamily="34" charset="-120"/>
              </a:rPr>
              <a:t>Practice on Board</a:t>
            </a:r>
            <a:endParaRPr lang="en-US" sz="1450" dirty="0"/>
          </a:p>
        </p:txBody>
      </p:sp>
      <p:sp>
        <p:nvSpPr>
          <p:cNvPr id="24" name="Text 22"/>
          <p:cNvSpPr txBox="1"/>
          <p:nvPr/>
        </p:nvSpPr>
        <p:spPr>
          <a:xfrm>
            <a:off x="9473184" y="4114800"/>
            <a:ext cx="2148840" cy="1280160"/>
          </a:xfrm>
          <a:prstGeom prst="rect">
            <a:avLst/>
          </a:prstGeom>
          <a:noFill/>
          <a:ln/>
        </p:spPr>
        <p:txBody>
          <a:bodyPr wrap="square" lIns="0" tIns="0" rIns="0" bIns="0" rtlCol="0" anchor="ctr"/>
          <a:lstStyle/>
          <a:p>
            <a:pPr indent="0" marL="0">
              <a:lnSpc>
                <a:spcPts val="1500"/>
              </a:lnSpc>
              <a:buNone/>
            </a:pPr>
            <a:r>
              <a:rPr lang="en-US" sz="1150" dirty="0">
                <a:solidFill>
                  <a:srgbClr val="7A6A61"/>
                </a:solidFill>
                <a:latin typeface="Calibri" pitchFamily="34" charset="0"/>
                <a:ea typeface="Calibri" pitchFamily="34" charset="-122"/>
                <a:cs typeface="Calibri" pitchFamily="34" charset="-120"/>
              </a:rPr>
              <a:t>Students solved problems themselves to build confidence.</a:t>
            </a:r>
            <a:endParaRPr lang="en-US" sz="1150" dirty="0"/>
          </a:p>
        </p:txBody>
      </p:sp>
      <p:sp>
        <p:nvSpPr>
          <p:cNvPr id="25" name="Text 23"/>
          <p:cNvSpPr txBox="1"/>
          <p:nvPr/>
        </p:nvSpPr>
        <p:spPr>
          <a:xfrm>
            <a:off x="548640" y="5806440"/>
            <a:ext cx="10881360" cy="457200"/>
          </a:xfrm>
          <a:prstGeom prst="rect">
            <a:avLst/>
          </a:prstGeom>
          <a:noFill/>
          <a:ln/>
        </p:spPr>
        <p:txBody>
          <a:bodyPr wrap="square" lIns="0" tIns="0" rIns="0" bIns="0" rtlCol="0" anchor="ctr"/>
          <a:lstStyle/>
          <a:p>
            <a:pPr indent="0" marL="0">
              <a:buNone/>
            </a:pPr>
            <a:r>
              <a:rPr lang="en-US" sz="1150" i="1" dirty="0">
                <a:solidFill>
                  <a:srgbClr val="B85042"/>
                </a:solidFill>
                <a:latin typeface="Calibri" pitchFamily="34" charset="0"/>
                <a:ea typeface="Calibri" pitchFamily="34" charset="-122"/>
                <a:cs typeface="Calibri" pitchFamily="34" charset="-120"/>
              </a:rPr>
              <a:t>Topics: number counting · multiplication tables · basic division &amp; word problems · language and reading practice</a:t>
            </a:r>
            <a:endParaRPr lang="en-US" sz="1150" dirty="0"/>
          </a:p>
        </p:txBody>
      </p:sp>
      <p:sp>
        <p:nvSpPr>
          <p:cNvPr id="26" name="Text 2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27" name="Text 25"/>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3241C"/>
        </a:solidFill>
      </p:bgPr>
    </p:bg>
    <p:spTree>
      <p:nvGrpSpPr>
        <p:cNvPr id="1" name=""/>
        <p:cNvGrpSpPr/>
        <p:nvPr/>
      </p:nvGrpSpPr>
      <p:grpSpPr>
        <a:xfrm>
          <a:off x="0" y="0"/>
          <a:ext cx="0" cy="0"/>
          <a:chOff x="0" y="0"/>
          <a:chExt cx="0" cy="0"/>
        </a:xfrm>
      </p:grpSpPr>
      <p:sp>
        <p:nvSpPr>
          <p:cNvPr id="2" name="Shape 0"/>
          <p:cNvSpPr/>
          <p:nvPr/>
        </p:nvSpPr>
        <p:spPr>
          <a:xfrm>
            <a:off x="9966960" y="4389120"/>
            <a:ext cx="3657600" cy="3657600"/>
          </a:xfrm>
          <a:prstGeom prst="ellipse">
            <a:avLst/>
          </a:prstGeom>
          <a:solidFill>
            <a:srgbClr val="43302A"/>
          </a:solidFill>
          <a:ln/>
        </p:spPr>
      </p:sp>
      <p:sp>
        <p:nvSpPr>
          <p:cNvPr id="3" name="Text 1"/>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A7BEAE"/>
                </a:solidFill>
                <a:latin typeface="Calibri" pitchFamily="34" charset="0"/>
                <a:ea typeface="Calibri" pitchFamily="34" charset="-122"/>
                <a:cs typeface="Calibri" pitchFamily="34" charset="-120"/>
              </a:rPr>
              <a:t>PROJECT DESCRIPTION · 4.7</a:t>
            </a:r>
            <a:endParaRPr lang="en-US" sz="1300" dirty="0"/>
          </a:p>
        </p:txBody>
      </p:sp>
      <p:sp>
        <p:nvSpPr>
          <p:cNvPr id="4" name="Text 2"/>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Observations</a:t>
            </a:r>
            <a:endParaRPr lang="en-US" sz="3000" dirty="0"/>
          </a:p>
        </p:txBody>
      </p:sp>
      <p:sp>
        <p:nvSpPr>
          <p:cNvPr id="5" name="Shape 3"/>
          <p:cNvSpPr/>
          <p:nvPr/>
        </p:nvSpPr>
        <p:spPr>
          <a:xfrm>
            <a:off x="548640" y="1600200"/>
            <a:ext cx="6858000" cy="1965960"/>
          </a:xfrm>
          <a:prstGeom prst="roundRect">
            <a:avLst>
              <a:gd name="adj" fmla="val 3721"/>
            </a:avLst>
          </a:prstGeom>
          <a:solidFill>
            <a:srgbClr val="43302A"/>
          </a:solidFill>
          <a:ln/>
        </p:spPr>
      </p:sp>
      <p:sp>
        <p:nvSpPr>
          <p:cNvPr id="6" name="Text 4"/>
          <p:cNvSpPr txBox="1"/>
          <p:nvPr/>
        </p:nvSpPr>
        <p:spPr>
          <a:xfrm>
            <a:off x="868680" y="1600200"/>
            <a:ext cx="6217920" cy="1965960"/>
          </a:xfrm>
          <a:prstGeom prst="rect">
            <a:avLst/>
          </a:prstGeom>
          <a:noFill/>
          <a:ln/>
        </p:spPr>
        <p:txBody>
          <a:bodyPr wrap="square" lIns="0" tIns="0" rIns="0" bIns="0" rtlCol="0" anchor="ctr"/>
          <a:lstStyle/>
          <a:p>
            <a:pPr indent="0" marL="0">
              <a:lnSpc>
                <a:spcPts val="2000"/>
              </a:lnSpc>
              <a:buNone/>
            </a:pPr>
            <a:r>
              <a:rPr lang="en-US" sz="1400" dirty="0">
                <a:solidFill>
                  <a:srgbClr val="F3EFE6"/>
                </a:solidFill>
                <a:latin typeface="Calibri" pitchFamily="34" charset="0"/>
                <a:ea typeface="Calibri" pitchFamily="34" charset="-122"/>
                <a:cs typeface="Calibri" pitchFamily="34" charset="-120"/>
              </a:rPr>
              <a:t>A striking finding was the wide variation in academic level even within the same class — some students grasped concepts beyond their grade, while certain Class 5th students were unfamiliar with basic Class 1st-level counting and reading.</a:t>
            </a:r>
            <a:endParaRPr lang="en-US" sz="1400" dirty="0"/>
          </a:p>
        </p:txBody>
      </p:sp>
      <p:sp>
        <p:nvSpPr>
          <p:cNvPr id="7" name="Shape 5"/>
          <p:cNvSpPr/>
          <p:nvPr/>
        </p:nvSpPr>
        <p:spPr>
          <a:xfrm>
            <a:off x="548640" y="3794760"/>
            <a:ext cx="6858000" cy="2331720"/>
          </a:xfrm>
          <a:prstGeom prst="roundRect">
            <a:avLst>
              <a:gd name="adj" fmla="val 3137"/>
            </a:avLst>
          </a:prstGeom>
          <a:solidFill>
            <a:srgbClr val="43302A"/>
          </a:solidFill>
          <a:ln/>
        </p:spPr>
      </p:sp>
      <p:sp>
        <p:nvSpPr>
          <p:cNvPr id="8" name="Text 6"/>
          <p:cNvSpPr txBox="1"/>
          <p:nvPr/>
        </p:nvSpPr>
        <p:spPr>
          <a:xfrm>
            <a:off x="868680" y="3794760"/>
            <a:ext cx="6217920" cy="2331720"/>
          </a:xfrm>
          <a:prstGeom prst="rect">
            <a:avLst/>
          </a:prstGeom>
          <a:noFill/>
          <a:ln/>
        </p:spPr>
        <p:txBody>
          <a:bodyPr wrap="square" lIns="0" tIns="0" rIns="0" bIns="0" rtlCol="0" anchor="ctr"/>
          <a:lstStyle/>
          <a:p>
            <a:pPr indent="0" marL="0">
              <a:lnSpc>
                <a:spcPts val="2000"/>
              </a:lnSpc>
              <a:buNone/>
            </a:pPr>
            <a:r>
              <a:rPr lang="en-US" sz="1400" dirty="0">
                <a:solidFill>
                  <a:srgbClr val="F3EFE6"/>
                </a:solidFill>
                <a:latin typeface="Calibri" pitchFamily="34" charset="0"/>
                <a:ea typeface="Calibri" pitchFamily="34" charset="-122"/>
                <a:cs typeface="Calibri" pitchFamily="34" charset="-120"/>
              </a:rPr>
              <a:t>This gap highlighted real, on-ground challenges faced by underprivileged students without consistent access to quality education — reinforcing the importance of individualized attention over a one-size-fits-all method. Shy students grew steadily more participative as sessions progressed.</a:t>
            </a:r>
            <a:endParaRPr lang="en-US" sz="1400" dirty="0"/>
          </a:p>
        </p:txBody>
      </p:sp>
      <p:sp>
        <p:nvSpPr>
          <p:cNvPr id="9" name="Shape 7"/>
          <p:cNvSpPr/>
          <p:nvPr/>
        </p:nvSpPr>
        <p:spPr>
          <a:xfrm>
            <a:off x="7680960" y="1600200"/>
            <a:ext cx="3931920" cy="4526280"/>
          </a:xfrm>
          <a:prstGeom prst="roundRect">
            <a:avLst>
              <a:gd name="adj" fmla="val 1860"/>
            </a:avLst>
          </a:prstGeom>
          <a:solidFill>
            <a:srgbClr val="B85042"/>
          </a:solidFill>
          <a:ln/>
        </p:spPr>
      </p:sp>
      <p:sp>
        <p:nvSpPr>
          <p:cNvPr id="10" name="Text 8"/>
          <p:cNvSpPr txBox="1"/>
          <p:nvPr/>
        </p:nvSpPr>
        <p:spPr>
          <a:xfrm>
            <a:off x="7909560" y="1691640"/>
            <a:ext cx="914400" cy="914400"/>
          </a:xfrm>
          <a:prstGeom prst="rect">
            <a:avLst/>
          </a:prstGeom>
          <a:noFill/>
          <a:ln/>
        </p:spPr>
        <p:txBody>
          <a:bodyPr wrap="square" lIns="0" tIns="0" rIns="0" bIns="0" rtlCol="0" anchor="ctr"/>
          <a:lstStyle/>
          <a:p>
            <a:pPr indent="0" marL="0">
              <a:buNone/>
            </a:pPr>
            <a:r>
              <a:rPr lang="en-US" sz="6000" b="1" dirty="0">
                <a:solidFill>
                  <a:srgbClr val="F3D8D2"/>
                </a:solidFill>
                <a:latin typeface="Cambria" pitchFamily="34" charset="0"/>
                <a:ea typeface="Cambria" pitchFamily="34" charset="-122"/>
                <a:cs typeface="Cambria" pitchFamily="34" charset="-120"/>
              </a:rPr>
              <a:t>“</a:t>
            </a:r>
            <a:endParaRPr lang="en-US" sz="6000" dirty="0"/>
          </a:p>
        </p:txBody>
      </p:sp>
      <p:sp>
        <p:nvSpPr>
          <p:cNvPr id="11" name="Text 9"/>
          <p:cNvSpPr txBox="1"/>
          <p:nvPr/>
        </p:nvSpPr>
        <p:spPr>
          <a:xfrm>
            <a:off x="8001000" y="2651760"/>
            <a:ext cx="3383280" cy="2377440"/>
          </a:xfrm>
          <a:prstGeom prst="rect">
            <a:avLst/>
          </a:prstGeom>
          <a:noFill/>
          <a:ln/>
        </p:spPr>
        <p:txBody>
          <a:bodyPr wrap="square" lIns="0" tIns="0" rIns="0" bIns="0" rtlCol="0" anchor="ctr"/>
          <a:lstStyle/>
          <a:p>
            <a:pPr indent="0" marL="0">
              <a:lnSpc>
                <a:spcPts val="2400"/>
              </a:lnSpc>
              <a:buNone/>
            </a:pPr>
            <a:r>
              <a:rPr lang="en-US" sz="1750" b="1" i="1" dirty="0">
                <a:solidFill>
                  <a:srgbClr val="FFFFFF"/>
                </a:solidFill>
                <a:latin typeface="Cambria" pitchFamily="34" charset="0"/>
                <a:ea typeface="Cambria" pitchFamily="34" charset="-122"/>
                <a:cs typeface="Cambria" pitchFamily="34" charset="-120"/>
              </a:rPr>
              <a:t>Patience and consistent encouragement can make a visible difference in a student's willingness to learn.</a:t>
            </a:r>
            <a:endParaRPr lang="en-US" sz="1750" dirty="0"/>
          </a:p>
        </p:txBody>
      </p:sp>
      <p:sp>
        <p:nvSpPr>
          <p:cNvPr id="12" name="Text 1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C9B8AE"/>
                </a:solidFill>
                <a:latin typeface="Calibri" pitchFamily="34" charset="0"/>
                <a:ea typeface="Calibri" pitchFamily="34" charset="-122"/>
                <a:cs typeface="Calibri" pitchFamily="34" charset="-120"/>
              </a:rPr>
              <a:t>Community Teaching &amp; Social Outreach Programme</a:t>
            </a:r>
            <a:endParaRPr lang="en-US" sz="900" dirty="0"/>
          </a:p>
        </p:txBody>
      </p:sp>
      <p:sp>
        <p:nvSpPr>
          <p:cNvPr id="13" name="Text 11"/>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C9B8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4.8</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Session-wise Schedule</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434840"/>
        </p:xfrm>
        <a:graphic>
          <a:graphicData uri="http://schemas.openxmlformats.org/drawingml/2006/table">
            <a:tbl>
              <a:tblPr/>
              <a:tblGrid>
                <a:gridCol w="1554480"/>
                <a:gridCol w="3108960"/>
                <a:gridCol w="640080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B85042"/>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Class Group</a:t>
                      </a:r>
                      <a:endParaRPr lang="en-US" sz="115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B85042"/>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Focus Area / Activity</a:t>
                      </a:r>
                      <a:endParaRPr lang="en-US" sz="115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B85042"/>
                    </a:solidFill>
                  </a:tcPr>
                </a:tc>
              </a:tr>
              <a:tr h="1005840">
                <a:tc>
                  <a:txBody>
                    <a:bodyPr/>
                    <a:lstStyle/>
                    <a:p>
                      <a:pPr algn="l" indent="0" marL="0">
                        <a:buNone/>
                      </a:pPr>
                      <a:r>
                        <a:rPr lang="en-US" sz="1100" b="1" dirty="0">
                          <a:solidFill>
                            <a:srgbClr val="B85042"/>
                          </a:solidFill>
                          <a:latin typeface="Calibri" pitchFamily="34" charset="0"/>
                          <a:ea typeface="Calibri" pitchFamily="34" charset="-122"/>
                          <a:cs typeface="Calibri" pitchFamily="34" charset="-120"/>
                        </a:rPr>
                        <a:t>Session 1</a:t>
                      </a:r>
                      <a:endParaRPr lang="en-US" sz="1100" dirty="0">
                        <a:latin typeface="Calibri" charset="0"/>
                        <a:ea typeface="Calibri" charset="0"/>
                        <a:cs typeface="Calibri" charset="0"/>
                      </a:endParaRPr>
                    </a:p>
                    <a:p>
                      <a:pPr algn="l" indent="0" marL="0">
                        <a:buNone/>
                      </a:pPr>
                      <a:r>
                        <a:rPr lang="en-US" sz="1100" b="1" dirty="0">
                          <a:solidFill>
                            <a:srgbClr val="B85042"/>
                          </a:solidFill>
                          <a:latin typeface="Calibri" pitchFamily="34" charset="0"/>
                          <a:ea typeface="Calibri" pitchFamily="34" charset="-122"/>
                          <a:cs typeface="Calibri" pitchFamily="34" charset="-120"/>
                        </a:rPr>
                        <a:t>(Week 1)</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Class III – Remedial Introduction</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Assessment of existing reading, writing and number skills; basic counting and place value (1000–1500 range).</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FFFFF"/>
                    </a:solidFill>
                  </a:tcPr>
                </a:tc>
              </a:tr>
              <a:tr h="1005840">
                <a:tc>
                  <a:txBody>
                    <a:bodyPr/>
                    <a:lstStyle/>
                    <a:p>
                      <a:pPr algn="l" indent="0" marL="0">
                        <a:buNone/>
                      </a:pPr>
                      <a:r>
                        <a:rPr lang="en-US" sz="1100" b="1" dirty="0">
                          <a:solidFill>
                            <a:srgbClr val="B85042"/>
                          </a:solidFill>
                          <a:latin typeface="Calibri" pitchFamily="34" charset="0"/>
                          <a:ea typeface="Calibri" pitchFamily="34" charset="-122"/>
                          <a:cs typeface="Calibri" pitchFamily="34" charset="-120"/>
                        </a:rPr>
                        <a:t>Session 2</a:t>
                      </a:r>
                      <a:endParaRPr lang="en-US" sz="1100" dirty="0">
                        <a:latin typeface="Calibri" charset="0"/>
                        <a:ea typeface="Calibri" charset="0"/>
                        <a:cs typeface="Calibri" charset="0"/>
                      </a:endParaRPr>
                    </a:p>
                    <a:p>
                      <a:pPr algn="l" indent="0" marL="0">
                        <a:buNone/>
                      </a:pPr>
                      <a:r>
                        <a:rPr lang="en-US" sz="1100" b="1" dirty="0">
                          <a:solidFill>
                            <a:srgbClr val="B85042"/>
                          </a:solidFill>
                          <a:latin typeface="Calibri" pitchFamily="34" charset="0"/>
                          <a:ea typeface="Calibri" pitchFamily="34" charset="-122"/>
                          <a:cs typeface="Calibri" pitchFamily="34" charset="-120"/>
                        </a:rPr>
                        <a:t>(Week 2)</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3EFE6"/>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Class III &amp; V – Combined Remedial Teaching</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3EFE6"/>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Mental maths practice (multiplication and division problems); Hindi reading.</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3EFE6"/>
                    </a:solidFill>
                  </a:tcPr>
                </a:tc>
              </a:tr>
              <a:tr h="1005840">
                <a:tc>
                  <a:txBody>
                    <a:bodyPr/>
                    <a:lstStyle/>
                    <a:p>
                      <a:pPr algn="l" indent="0" marL="0">
                        <a:buNone/>
                      </a:pPr>
                      <a:r>
                        <a:rPr lang="en-US" sz="1100" b="1" dirty="0">
                          <a:solidFill>
                            <a:srgbClr val="B85042"/>
                          </a:solidFill>
                          <a:latin typeface="Calibri" pitchFamily="34" charset="0"/>
                          <a:ea typeface="Calibri" pitchFamily="34" charset="-122"/>
                          <a:cs typeface="Calibri" pitchFamily="34" charset="-120"/>
                        </a:rPr>
                        <a:t>Session 3</a:t>
                      </a:r>
                      <a:endParaRPr lang="en-US" sz="1100" dirty="0">
                        <a:latin typeface="Calibri" charset="0"/>
                        <a:ea typeface="Calibri" charset="0"/>
                        <a:cs typeface="Calibri" charset="0"/>
                      </a:endParaRPr>
                    </a:p>
                    <a:p>
                      <a:pPr algn="l" indent="0" marL="0">
                        <a:buNone/>
                      </a:pPr>
                      <a:r>
                        <a:rPr lang="en-US" sz="1100" b="1" dirty="0">
                          <a:solidFill>
                            <a:srgbClr val="B85042"/>
                          </a:solidFill>
                          <a:latin typeface="Calibri" pitchFamily="34" charset="0"/>
                          <a:ea typeface="Calibri" pitchFamily="34" charset="-122"/>
                          <a:cs typeface="Calibri" pitchFamily="34" charset="-120"/>
                        </a:rPr>
                        <a:t>(Week 3)</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Class I, III &amp; V – Group Teaching</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Table learning (14–19); basic division and multiplication word problems; handwriting practice.</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FFFFF"/>
                    </a:solidFill>
                  </a:tcPr>
                </a:tc>
              </a:tr>
              <a:tr h="1005840">
                <a:tc>
                  <a:txBody>
                    <a:bodyPr/>
                    <a:lstStyle/>
                    <a:p>
                      <a:pPr algn="l" indent="0" marL="0">
                        <a:buNone/>
                      </a:pPr>
                      <a:r>
                        <a:rPr lang="en-US" sz="1100" b="1" dirty="0">
                          <a:solidFill>
                            <a:srgbClr val="B85042"/>
                          </a:solidFill>
                          <a:latin typeface="Calibri" pitchFamily="34" charset="0"/>
                          <a:ea typeface="Calibri" pitchFamily="34" charset="-122"/>
                          <a:cs typeface="Calibri" pitchFamily="34" charset="-120"/>
                        </a:rPr>
                        <a:t>Session 4</a:t>
                      </a:r>
                      <a:endParaRPr lang="en-US" sz="1100" dirty="0">
                        <a:latin typeface="Calibri" charset="0"/>
                        <a:ea typeface="Calibri" charset="0"/>
                        <a:cs typeface="Calibri" charset="0"/>
                      </a:endParaRPr>
                    </a:p>
                    <a:p>
                      <a:pPr algn="l" indent="0" marL="0">
                        <a:buNone/>
                      </a:pPr>
                      <a:r>
                        <a:rPr lang="en-US" sz="1100" b="1" dirty="0">
                          <a:solidFill>
                            <a:srgbClr val="B85042"/>
                          </a:solidFill>
                          <a:latin typeface="Calibri" pitchFamily="34" charset="0"/>
                          <a:ea typeface="Calibri" pitchFamily="34" charset="-122"/>
                          <a:cs typeface="Calibri" pitchFamily="34" charset="-120"/>
                        </a:rPr>
                        <a:t>(Week 4)</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3EFE6"/>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Class I, III &amp; V – Review &amp; Consolidation</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3EFE6"/>
                    </a:solidFill>
                  </a:tcPr>
                </a:tc>
                <a:tc>
                  <a:txBody>
                    <a:bodyPr/>
                    <a:lstStyle/>
                    <a:p>
                      <a:pPr algn="l" indent="0" marL="0">
                        <a:buNone/>
                      </a:pPr>
                      <a:r>
                        <a:rPr lang="en-US" sz="1100" dirty="0">
                          <a:solidFill>
                            <a:srgbClr val="3A2A22"/>
                          </a:solidFill>
                          <a:latin typeface="Calibri" pitchFamily="34" charset="0"/>
                          <a:ea typeface="Calibri" pitchFamily="34" charset="-122"/>
                          <a:cs typeface="Calibri" pitchFamily="34" charset="-120"/>
                        </a:rPr>
                        <a:t>Recap of topics; one-on-one doubt clearing; encouraging weaker students; small oral tests.</a:t>
                      </a:r>
                      <a:endParaRPr lang="en-US" sz="1100" dirty="0">
                        <a:latin typeface="Calibri" charset="0"/>
                        <a:ea typeface="Calibri" charset="0"/>
                        <a:cs typeface="Calibri" charset="0"/>
                      </a:endParaRPr>
                    </a:p>
                  </a:txBody>
                  <a:tcPr marL="91440" marR="91440" marT="45720" marB="45720" anchor="ctr">
                    <a:lnL w="9525" cap="flat" cmpd="sng" algn="ctr">
                      <a:solidFill>
                        <a:srgbClr val="E5DDD3"/>
                      </a:solidFill>
                      <a:prstDash val="solid"/>
                      <a:round/>
                      <a:headEnd type="none" w="med" len="med"/>
                      <a:tailEnd type="none" w="med" len="med"/>
                    </a:lnL>
                    <a:lnR w="9525" cap="flat" cmpd="sng" algn="ctr">
                      <a:solidFill>
                        <a:srgbClr val="E5DDD3"/>
                      </a:solidFill>
                      <a:prstDash val="solid"/>
                      <a:round/>
                      <a:headEnd type="none" w="med" len="med"/>
                      <a:tailEnd type="none" w="med" len="med"/>
                    </a:lnR>
                    <a:lnT w="9525" cap="flat" cmpd="sng" algn="ctr">
                      <a:solidFill>
                        <a:srgbClr val="E5DDD3"/>
                      </a:solidFill>
                      <a:prstDash val="solid"/>
                      <a:round/>
                      <a:headEnd type="none" w="med" len="med"/>
                      <a:tailEnd type="none" w="med" len="med"/>
                    </a:lnT>
                    <a:lnB w="9525" cap="flat" cmpd="sng" algn="ctr">
                      <a:solidFill>
                        <a:srgbClr val="E5DDD3"/>
                      </a:solidFill>
                      <a:prstDash val="solid"/>
                      <a:round/>
                      <a:headEnd type="none" w="med" len="med"/>
                      <a:tailEnd type="none" w="med" len="med"/>
                    </a:lnB>
                    <a:solidFill>
                      <a:srgbClr val="F3EFE6"/>
                    </a:solidFill>
                  </a:tcPr>
                </a:tc>
              </a:tr>
            </a:tbl>
          </a:graphicData>
        </a:graphic>
      </p:graphicFrame>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7" name="Text 4"/>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4.9</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Learning Outcomes</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sp>
        <p:nvSpPr>
          <p:cNvPr id="5" name="Shape 3"/>
          <p:cNvSpPr/>
          <p:nvPr/>
        </p:nvSpPr>
        <p:spPr>
          <a:xfrm>
            <a:off x="548640" y="1737360"/>
            <a:ext cx="6492240" cy="758952"/>
          </a:xfrm>
          <a:prstGeom prst="roundRect">
            <a:avLst>
              <a:gd name="adj" fmla="val 7229"/>
            </a:avLst>
          </a:prstGeom>
          <a:solidFill>
            <a:srgbClr val="FFFFFF"/>
          </a:solidFill>
          <a:ln/>
        </p:spPr>
      </p:sp>
      <p:sp>
        <p:nvSpPr>
          <p:cNvPr id="6" name="Shape 4"/>
          <p:cNvSpPr/>
          <p:nvPr/>
        </p:nvSpPr>
        <p:spPr>
          <a:xfrm>
            <a:off x="731520" y="1920240"/>
            <a:ext cx="384048" cy="384048"/>
          </a:xfrm>
          <a:prstGeom prst="ellipse">
            <a:avLst/>
          </a:prstGeom>
          <a:solidFill>
            <a:srgbClr val="A7BEAE"/>
          </a:solidFill>
          <a:ln/>
        </p:spPr>
      </p:sp>
      <p:sp>
        <p:nvSpPr>
          <p:cNvPr id="7" name="Text 5"/>
          <p:cNvSpPr txBox="1"/>
          <p:nvPr/>
        </p:nvSpPr>
        <p:spPr>
          <a:xfrm>
            <a:off x="1325880" y="1792224"/>
            <a:ext cx="5577840" cy="658368"/>
          </a:xfrm>
          <a:prstGeom prst="rect">
            <a:avLst/>
          </a:prstGeom>
          <a:noFill/>
          <a:ln/>
        </p:spPr>
        <p:txBody>
          <a:bodyPr wrap="square" lIns="0" tIns="0" rIns="0" bIns="0" rtlCol="0" anchor="ctr"/>
          <a:lstStyle/>
          <a:p>
            <a:pPr indent="0" marL="0">
              <a:lnSpc>
                <a:spcPts val="1500"/>
              </a:lnSpc>
              <a:buNone/>
            </a:pPr>
            <a:r>
              <a:rPr lang="en-US" sz="1200" dirty="0">
                <a:solidFill>
                  <a:srgbClr val="3A2A22"/>
                </a:solidFill>
                <a:latin typeface="Calibri" pitchFamily="34" charset="0"/>
                <a:ea typeface="Calibri" pitchFamily="34" charset="-122"/>
                <a:cs typeface="Calibri" pitchFamily="34" charset="-120"/>
              </a:rPr>
              <a:t>Gained practical, hands-on experience teaching and mentoring children from underprivileged backgrounds</a:t>
            </a:r>
            <a:endParaRPr lang="en-US" sz="1200" dirty="0"/>
          </a:p>
        </p:txBody>
      </p:sp>
      <p:sp>
        <p:nvSpPr>
          <p:cNvPr id="8" name="Shape 6"/>
          <p:cNvSpPr/>
          <p:nvPr/>
        </p:nvSpPr>
        <p:spPr>
          <a:xfrm>
            <a:off x="548640" y="2633472"/>
            <a:ext cx="6492240" cy="758952"/>
          </a:xfrm>
          <a:prstGeom prst="roundRect">
            <a:avLst>
              <a:gd name="adj" fmla="val 7229"/>
            </a:avLst>
          </a:prstGeom>
          <a:solidFill>
            <a:srgbClr val="FFFFFF"/>
          </a:solidFill>
          <a:ln/>
        </p:spPr>
      </p:sp>
      <p:sp>
        <p:nvSpPr>
          <p:cNvPr id="9" name="Shape 7"/>
          <p:cNvSpPr/>
          <p:nvPr/>
        </p:nvSpPr>
        <p:spPr>
          <a:xfrm>
            <a:off x="731520" y="2816352"/>
            <a:ext cx="384048" cy="384048"/>
          </a:xfrm>
          <a:prstGeom prst="ellipse">
            <a:avLst/>
          </a:prstGeom>
          <a:solidFill>
            <a:srgbClr val="A7BEAE"/>
          </a:solidFill>
          <a:ln/>
        </p:spPr>
      </p:sp>
      <p:sp>
        <p:nvSpPr>
          <p:cNvPr id="10" name="Text 8"/>
          <p:cNvSpPr txBox="1"/>
          <p:nvPr/>
        </p:nvSpPr>
        <p:spPr>
          <a:xfrm>
            <a:off x="1325880" y="2688336"/>
            <a:ext cx="5577840" cy="658368"/>
          </a:xfrm>
          <a:prstGeom prst="rect">
            <a:avLst/>
          </a:prstGeom>
          <a:noFill/>
          <a:ln/>
        </p:spPr>
        <p:txBody>
          <a:bodyPr wrap="square" lIns="0" tIns="0" rIns="0" bIns="0" rtlCol="0" anchor="ctr"/>
          <a:lstStyle/>
          <a:p>
            <a:pPr indent="0" marL="0">
              <a:lnSpc>
                <a:spcPts val="1500"/>
              </a:lnSpc>
              <a:buNone/>
            </a:pPr>
            <a:r>
              <a:rPr lang="en-US" sz="1200" dirty="0">
                <a:solidFill>
                  <a:srgbClr val="3A2A22"/>
                </a:solidFill>
                <a:latin typeface="Calibri" pitchFamily="34" charset="0"/>
                <a:ea typeface="Calibri" pitchFamily="34" charset="-122"/>
                <a:cs typeface="Calibri" pitchFamily="34" charset="-120"/>
              </a:rPr>
              <a:t>Learned to identify and adapt to different learning levels within the same group of students</a:t>
            </a:r>
            <a:endParaRPr lang="en-US" sz="1200" dirty="0"/>
          </a:p>
        </p:txBody>
      </p:sp>
      <p:sp>
        <p:nvSpPr>
          <p:cNvPr id="11" name="Shape 9"/>
          <p:cNvSpPr/>
          <p:nvPr/>
        </p:nvSpPr>
        <p:spPr>
          <a:xfrm>
            <a:off x="548640" y="3529584"/>
            <a:ext cx="6492240" cy="758952"/>
          </a:xfrm>
          <a:prstGeom prst="roundRect">
            <a:avLst>
              <a:gd name="adj" fmla="val 7229"/>
            </a:avLst>
          </a:prstGeom>
          <a:solidFill>
            <a:srgbClr val="FFFFFF"/>
          </a:solidFill>
          <a:ln/>
        </p:spPr>
      </p:sp>
      <p:sp>
        <p:nvSpPr>
          <p:cNvPr id="12" name="Shape 10"/>
          <p:cNvSpPr/>
          <p:nvPr/>
        </p:nvSpPr>
        <p:spPr>
          <a:xfrm>
            <a:off x="731520" y="3712464"/>
            <a:ext cx="384048" cy="384048"/>
          </a:xfrm>
          <a:prstGeom prst="ellipse">
            <a:avLst/>
          </a:prstGeom>
          <a:solidFill>
            <a:srgbClr val="A7BEAE"/>
          </a:solidFill>
          <a:ln/>
        </p:spPr>
      </p:sp>
      <p:sp>
        <p:nvSpPr>
          <p:cNvPr id="13" name="Text 11"/>
          <p:cNvSpPr txBox="1"/>
          <p:nvPr/>
        </p:nvSpPr>
        <p:spPr>
          <a:xfrm>
            <a:off x="1325880" y="3584448"/>
            <a:ext cx="5577840" cy="658368"/>
          </a:xfrm>
          <a:prstGeom prst="rect">
            <a:avLst/>
          </a:prstGeom>
          <a:noFill/>
          <a:ln/>
        </p:spPr>
        <p:txBody>
          <a:bodyPr wrap="square" lIns="0" tIns="0" rIns="0" bIns="0" rtlCol="0" anchor="ctr"/>
          <a:lstStyle/>
          <a:p>
            <a:pPr indent="0" marL="0">
              <a:lnSpc>
                <a:spcPts val="1500"/>
              </a:lnSpc>
              <a:buNone/>
            </a:pPr>
            <a:r>
              <a:rPr lang="en-US" sz="1200" dirty="0">
                <a:solidFill>
                  <a:srgbClr val="3A2A22"/>
                </a:solidFill>
                <a:latin typeface="Calibri" pitchFamily="34" charset="0"/>
                <a:ea typeface="Calibri" pitchFamily="34" charset="-122"/>
                <a:cs typeface="Calibri" pitchFamily="34" charset="-120"/>
              </a:rPr>
              <a:t>Developed patience, empathy, and effective communication through direct interaction with children</a:t>
            </a:r>
            <a:endParaRPr lang="en-US" sz="1200" dirty="0"/>
          </a:p>
        </p:txBody>
      </p:sp>
      <p:sp>
        <p:nvSpPr>
          <p:cNvPr id="14" name="Shape 12"/>
          <p:cNvSpPr/>
          <p:nvPr/>
        </p:nvSpPr>
        <p:spPr>
          <a:xfrm>
            <a:off x="548640" y="4425696"/>
            <a:ext cx="6492240" cy="758952"/>
          </a:xfrm>
          <a:prstGeom prst="roundRect">
            <a:avLst>
              <a:gd name="adj" fmla="val 7229"/>
            </a:avLst>
          </a:prstGeom>
          <a:solidFill>
            <a:srgbClr val="FFFFFF"/>
          </a:solidFill>
          <a:ln/>
        </p:spPr>
      </p:sp>
      <p:sp>
        <p:nvSpPr>
          <p:cNvPr id="15" name="Shape 13"/>
          <p:cNvSpPr/>
          <p:nvPr/>
        </p:nvSpPr>
        <p:spPr>
          <a:xfrm>
            <a:off x="731520" y="4608576"/>
            <a:ext cx="384048" cy="384048"/>
          </a:xfrm>
          <a:prstGeom prst="ellipse">
            <a:avLst/>
          </a:prstGeom>
          <a:solidFill>
            <a:srgbClr val="A7BEAE"/>
          </a:solidFill>
          <a:ln/>
        </p:spPr>
      </p:sp>
      <p:sp>
        <p:nvSpPr>
          <p:cNvPr id="16" name="Text 14"/>
          <p:cNvSpPr txBox="1"/>
          <p:nvPr/>
        </p:nvSpPr>
        <p:spPr>
          <a:xfrm>
            <a:off x="1325880" y="4480560"/>
            <a:ext cx="5577840" cy="658368"/>
          </a:xfrm>
          <a:prstGeom prst="rect">
            <a:avLst/>
          </a:prstGeom>
          <a:noFill/>
          <a:ln/>
        </p:spPr>
        <p:txBody>
          <a:bodyPr wrap="square" lIns="0" tIns="0" rIns="0" bIns="0" rtlCol="0" anchor="ctr"/>
          <a:lstStyle/>
          <a:p>
            <a:pPr indent="0" marL="0">
              <a:lnSpc>
                <a:spcPts val="1500"/>
              </a:lnSpc>
              <a:buNone/>
            </a:pPr>
            <a:r>
              <a:rPr lang="en-US" sz="1200" dirty="0">
                <a:solidFill>
                  <a:srgbClr val="3A2A22"/>
                </a:solidFill>
                <a:latin typeface="Calibri" pitchFamily="34" charset="0"/>
                <a:ea typeface="Calibri" pitchFamily="34" charset="-122"/>
                <a:cs typeface="Calibri" pitchFamily="34" charset="-120"/>
              </a:rPr>
              <a:t>Understood the value of teamwork by coordinating with fellow interns</a:t>
            </a:r>
            <a:endParaRPr lang="en-US" sz="1200" dirty="0"/>
          </a:p>
        </p:txBody>
      </p:sp>
      <p:sp>
        <p:nvSpPr>
          <p:cNvPr id="17" name="Shape 15"/>
          <p:cNvSpPr/>
          <p:nvPr/>
        </p:nvSpPr>
        <p:spPr>
          <a:xfrm>
            <a:off x="548640" y="5321808"/>
            <a:ext cx="6492240" cy="758952"/>
          </a:xfrm>
          <a:prstGeom prst="roundRect">
            <a:avLst>
              <a:gd name="adj" fmla="val 7229"/>
            </a:avLst>
          </a:prstGeom>
          <a:solidFill>
            <a:srgbClr val="FFFFFF"/>
          </a:solidFill>
          <a:ln/>
        </p:spPr>
      </p:sp>
      <p:sp>
        <p:nvSpPr>
          <p:cNvPr id="18" name="Shape 16"/>
          <p:cNvSpPr/>
          <p:nvPr/>
        </p:nvSpPr>
        <p:spPr>
          <a:xfrm>
            <a:off x="731520" y="5504688"/>
            <a:ext cx="384048" cy="384048"/>
          </a:xfrm>
          <a:prstGeom prst="ellipse">
            <a:avLst/>
          </a:prstGeom>
          <a:solidFill>
            <a:srgbClr val="A7BEAE"/>
          </a:solidFill>
          <a:ln/>
        </p:spPr>
      </p:sp>
      <p:sp>
        <p:nvSpPr>
          <p:cNvPr id="19" name="Text 17"/>
          <p:cNvSpPr txBox="1"/>
          <p:nvPr/>
        </p:nvSpPr>
        <p:spPr>
          <a:xfrm>
            <a:off x="1325880" y="5376672"/>
            <a:ext cx="5577840" cy="658368"/>
          </a:xfrm>
          <a:prstGeom prst="rect">
            <a:avLst/>
          </a:prstGeom>
          <a:noFill/>
          <a:ln/>
        </p:spPr>
        <p:txBody>
          <a:bodyPr wrap="square" lIns="0" tIns="0" rIns="0" bIns="0" rtlCol="0" anchor="ctr"/>
          <a:lstStyle/>
          <a:p>
            <a:pPr indent="0" marL="0">
              <a:lnSpc>
                <a:spcPts val="1500"/>
              </a:lnSpc>
              <a:buNone/>
            </a:pPr>
            <a:r>
              <a:rPr lang="en-US" sz="1200" dirty="0">
                <a:solidFill>
                  <a:srgbClr val="3A2A22"/>
                </a:solidFill>
                <a:latin typeface="Calibri" pitchFamily="34" charset="0"/>
                <a:ea typeface="Calibri" pitchFamily="34" charset="-122"/>
                <a:cs typeface="Calibri" pitchFamily="34" charset="-120"/>
              </a:rPr>
              <a:t>Experienced satisfaction, joy and personal fulfilment through teaching and contributing to students' education</a:t>
            </a:r>
            <a:endParaRPr lang="en-US" sz="1200" dirty="0"/>
          </a:p>
        </p:txBody>
      </p:sp>
      <p:sp>
        <p:nvSpPr>
          <p:cNvPr id="20" name="Shape 18"/>
          <p:cNvSpPr/>
          <p:nvPr/>
        </p:nvSpPr>
        <p:spPr>
          <a:xfrm>
            <a:off x="7360920" y="1737360"/>
            <a:ext cx="4251960" cy="4343400"/>
          </a:xfrm>
          <a:prstGeom prst="roundRect">
            <a:avLst>
              <a:gd name="adj" fmla="val 1720"/>
            </a:avLst>
          </a:prstGeom>
          <a:solidFill>
            <a:srgbClr val="B85042"/>
          </a:solidFill>
          <a:ln/>
        </p:spPr>
      </p:sp>
      <p:sp>
        <p:nvSpPr>
          <p:cNvPr id="21" name="Text 19"/>
          <p:cNvSpPr txBox="1"/>
          <p:nvPr/>
        </p:nvSpPr>
        <p:spPr>
          <a:xfrm>
            <a:off x="7680960" y="2011680"/>
            <a:ext cx="3657600" cy="320040"/>
          </a:xfrm>
          <a:prstGeom prst="rect">
            <a:avLst/>
          </a:prstGeom>
          <a:noFill/>
          <a:ln/>
        </p:spPr>
        <p:txBody>
          <a:bodyPr wrap="square" lIns="0" tIns="0" rIns="0" bIns="0" rtlCol="0" anchor="ctr"/>
          <a:lstStyle/>
          <a:p>
            <a:pPr indent="0" marL="0">
              <a:buNone/>
            </a:pPr>
            <a:r>
              <a:rPr lang="en-US" sz="1200" b="1" spc="150" kern="0" dirty="0">
                <a:solidFill>
                  <a:srgbClr val="F3D8D2"/>
                </a:solidFill>
                <a:latin typeface="Calibri" pitchFamily="34" charset="0"/>
                <a:ea typeface="Calibri" pitchFamily="34" charset="-122"/>
                <a:cs typeface="Calibri" pitchFamily="34" charset="-120"/>
              </a:rPr>
              <a:t>LASTING IMPACT</a:t>
            </a:r>
            <a:endParaRPr lang="en-US" sz="1200" dirty="0"/>
          </a:p>
        </p:txBody>
      </p:sp>
      <p:sp>
        <p:nvSpPr>
          <p:cNvPr id="22" name="Text 20"/>
          <p:cNvSpPr txBox="1"/>
          <p:nvPr/>
        </p:nvSpPr>
        <p:spPr>
          <a:xfrm>
            <a:off x="7680960" y="2423160"/>
            <a:ext cx="3611880" cy="3474720"/>
          </a:xfrm>
          <a:prstGeom prst="rect">
            <a:avLst/>
          </a:prstGeom>
          <a:noFill/>
          <a:ln/>
        </p:spPr>
        <p:txBody>
          <a:bodyPr wrap="square" lIns="0" tIns="0" rIns="0" bIns="0" rtlCol="0" anchor="ctr"/>
          <a:lstStyle/>
          <a:p>
            <a:pPr indent="0" marL="0">
              <a:lnSpc>
                <a:spcPts val="2300"/>
              </a:lnSpc>
              <a:buNone/>
            </a:pPr>
            <a:r>
              <a:rPr lang="en-US" sz="1650" i="1" dirty="0">
                <a:solidFill>
                  <a:srgbClr val="FFFFFF"/>
                </a:solidFill>
                <a:latin typeface="Cambria" pitchFamily="34" charset="0"/>
                <a:ea typeface="Cambria" pitchFamily="34" charset="-122"/>
                <a:cs typeface="Cambria" pitchFamily="34" charset="-120"/>
              </a:rPr>
              <a:t>Watching the children slowly improve, gain confidence, and enjoy learning was an extremely satisfying experience — a deep sense of purpose in knowing that even a month's effort could make a small but meaningful difference.</a:t>
            </a:r>
            <a:endParaRPr lang="en-US" sz="165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24" name="Text 2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B85042"/>
                </a:solidFill>
                <a:latin typeface="Calibri" pitchFamily="34" charset="0"/>
                <a:ea typeface="Calibri" pitchFamily="34" charset="-122"/>
                <a:cs typeface="Calibri" pitchFamily="34" charset="-120"/>
              </a:rPr>
              <a:t>PROJECT DESCRIPTION · 4.10</a:t>
            </a:r>
            <a:endParaRPr lang="en-US" sz="1300" dirty="0"/>
          </a:p>
        </p:txBody>
      </p:sp>
      <p:sp>
        <p:nvSpPr>
          <p:cNvPr id="3" name="Text 1"/>
          <p:cNvSpPr txBox="1"/>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3A2A22"/>
                </a:solidFill>
                <a:latin typeface="Cambria" pitchFamily="34" charset="0"/>
                <a:ea typeface="Cambria" pitchFamily="34" charset="-122"/>
                <a:cs typeface="Cambria" pitchFamily="34" charset="-120"/>
              </a:rPr>
              <a:t>Photographs of the Internship Activity</a:t>
            </a:r>
            <a:endParaRPr lang="en-US" sz="3000" dirty="0"/>
          </a:p>
        </p:txBody>
      </p:sp>
      <p:sp>
        <p:nvSpPr>
          <p:cNvPr id="4" name="Shape 2"/>
          <p:cNvSpPr/>
          <p:nvPr/>
        </p:nvSpPr>
        <p:spPr>
          <a:xfrm>
            <a:off x="548640" y="1371600"/>
            <a:ext cx="502920" cy="54864"/>
          </a:xfrm>
          <a:prstGeom prst="roundRect">
            <a:avLst>
              <a:gd name="adj" fmla="val 50000"/>
            </a:avLst>
          </a:prstGeom>
          <a:solidFill>
            <a:srgbClr val="B85042"/>
          </a:solidFill>
          <a:ln w="12700">
            <a:solidFill>
              <a:srgbClr val="B85042"/>
            </a:solidFill>
            <a:prstDash val="solid"/>
          </a:ln>
        </p:spPr>
      </p:sp>
      <p:pic>
        <p:nvPicPr>
          <p:cNvPr id="5" name="Image 0" descr="assets/img-002.png">    </p:cNvPr>
          <p:cNvPicPr>
            <a:picLocks noChangeAspect="1"/>
          </p:cNvPicPr>
          <p:nvPr/>
        </p:nvPicPr>
        <p:blipFill>
          <a:blip r:embed="rId1"/>
          <a:stretch>
            <a:fillRect/>
          </a:stretch>
        </p:blipFill>
        <p:spPr>
          <a:xfrm>
            <a:off x="548640" y="1874520"/>
            <a:ext cx="6263640" cy="2815930"/>
          </a:xfrm>
          <a:prstGeom prst="rect">
            <a:avLst/>
          </a:prstGeom>
        </p:spPr>
      </p:pic>
      <p:sp>
        <p:nvSpPr>
          <p:cNvPr id="6" name="Shape 3"/>
          <p:cNvSpPr/>
          <p:nvPr/>
        </p:nvSpPr>
        <p:spPr>
          <a:xfrm>
            <a:off x="548640" y="1874520"/>
            <a:ext cx="6263640" cy="2815930"/>
          </a:xfrm>
          <a:prstGeom prst="rect">
            <a:avLst/>
          </a:prstGeom>
          <a:ln w="22225">
            <a:solidFill>
              <a:srgbClr val="A7BEAE"/>
            </a:solidFill>
            <a:prstDash val="solid"/>
          </a:ln>
        </p:spPr>
      </p:sp>
      <p:sp>
        <p:nvSpPr>
          <p:cNvPr id="7" name="Text 4"/>
          <p:cNvSpPr txBox="1"/>
          <p:nvPr/>
        </p:nvSpPr>
        <p:spPr>
          <a:xfrm>
            <a:off x="548640" y="4827610"/>
            <a:ext cx="6263640" cy="640080"/>
          </a:xfrm>
          <a:prstGeom prst="rect">
            <a:avLst/>
          </a:prstGeom>
          <a:noFill/>
          <a:ln/>
        </p:spPr>
        <p:txBody>
          <a:bodyPr wrap="square" lIns="0" tIns="0" rIns="0" bIns="0" rtlCol="0" anchor="ctr"/>
          <a:lstStyle/>
          <a:p>
            <a:pPr indent="0" marL="0">
              <a:lnSpc>
                <a:spcPts val="1600"/>
              </a:lnSpc>
              <a:buNone/>
            </a:pPr>
            <a:r>
              <a:rPr lang="en-US" sz="1250" i="1" dirty="0">
                <a:solidFill>
                  <a:srgbClr val="7A6A61"/>
                </a:solidFill>
                <a:latin typeface="Calibri" pitchFamily="34" charset="0"/>
                <a:ea typeface="Calibri" pitchFamily="34" charset="-122"/>
                <a:cs typeface="Calibri" pitchFamily="34" charset="-120"/>
              </a:rPr>
              <a:t>Group members teaching students at the Mahila SewaShakti Foundation centre</a:t>
            </a:r>
            <a:endParaRPr lang="en-US" sz="1250" dirty="0"/>
          </a:p>
        </p:txBody>
      </p:sp>
      <p:pic>
        <p:nvPicPr>
          <p:cNvPr id="8" name="Image 1" descr="assets/img-003.png">    </p:cNvPr>
          <p:cNvPicPr>
            <a:picLocks noChangeAspect="1"/>
          </p:cNvPicPr>
          <p:nvPr/>
        </p:nvPicPr>
        <p:blipFill>
          <a:blip r:embed="rId2"/>
          <a:stretch>
            <a:fillRect/>
          </a:stretch>
        </p:blipFill>
        <p:spPr>
          <a:xfrm>
            <a:off x="7178040" y="1874520"/>
            <a:ext cx="4434840" cy="1993761"/>
          </a:xfrm>
          <a:prstGeom prst="rect">
            <a:avLst/>
          </a:prstGeom>
        </p:spPr>
      </p:pic>
      <p:sp>
        <p:nvSpPr>
          <p:cNvPr id="9" name="Shape 5"/>
          <p:cNvSpPr/>
          <p:nvPr/>
        </p:nvSpPr>
        <p:spPr>
          <a:xfrm>
            <a:off x="7178040" y="1874520"/>
            <a:ext cx="4434840" cy="1993761"/>
          </a:xfrm>
          <a:prstGeom prst="rect">
            <a:avLst/>
          </a:prstGeom>
          <a:ln w="22225">
            <a:solidFill>
              <a:srgbClr val="A7BEAE"/>
            </a:solidFill>
            <a:prstDash val="solid"/>
          </a:ln>
        </p:spPr>
      </p:sp>
      <p:sp>
        <p:nvSpPr>
          <p:cNvPr id="10" name="Text 6"/>
          <p:cNvSpPr txBox="1"/>
          <p:nvPr/>
        </p:nvSpPr>
        <p:spPr>
          <a:xfrm>
            <a:off x="7178040" y="3959721"/>
            <a:ext cx="4434840" cy="365760"/>
          </a:xfrm>
          <a:prstGeom prst="rect">
            <a:avLst/>
          </a:prstGeom>
          <a:noFill/>
          <a:ln/>
        </p:spPr>
        <p:txBody>
          <a:bodyPr wrap="square" lIns="0" tIns="0" rIns="0" bIns="0" rtlCol="0" anchor="ctr"/>
          <a:lstStyle/>
          <a:p>
            <a:pPr indent="0" marL="0">
              <a:lnSpc>
                <a:spcPts val="1400"/>
              </a:lnSpc>
              <a:buNone/>
            </a:pPr>
            <a:r>
              <a:rPr lang="en-US" sz="1100" i="1" dirty="0">
                <a:solidFill>
                  <a:srgbClr val="7A6A61"/>
                </a:solidFill>
                <a:latin typeface="Calibri" pitchFamily="34" charset="0"/>
                <a:ea typeface="Calibri" pitchFamily="34" charset="-122"/>
                <a:cs typeface="Calibri" pitchFamily="34" charset="-120"/>
              </a:rPr>
              <a:t>An intern helping students with their classwork</a:t>
            </a:r>
            <a:endParaRPr lang="en-US" sz="1100" dirty="0"/>
          </a:p>
        </p:txBody>
      </p:sp>
      <p:pic>
        <p:nvPicPr>
          <p:cNvPr id="11" name="Image 2" descr="assets/img-004.png">    </p:cNvPr>
          <p:cNvPicPr>
            <a:picLocks noChangeAspect="1"/>
          </p:cNvPicPr>
          <p:nvPr/>
        </p:nvPicPr>
        <p:blipFill>
          <a:blip r:embed="rId3"/>
          <a:stretch>
            <a:fillRect/>
          </a:stretch>
        </p:blipFill>
        <p:spPr>
          <a:xfrm>
            <a:off x="7178040" y="4435209"/>
            <a:ext cx="4434840" cy="1993761"/>
          </a:xfrm>
          <a:prstGeom prst="rect">
            <a:avLst/>
          </a:prstGeom>
        </p:spPr>
      </p:pic>
      <p:sp>
        <p:nvSpPr>
          <p:cNvPr id="12" name="Shape 7"/>
          <p:cNvSpPr/>
          <p:nvPr/>
        </p:nvSpPr>
        <p:spPr>
          <a:xfrm>
            <a:off x="7178040" y="4435209"/>
            <a:ext cx="4434840" cy="1993761"/>
          </a:xfrm>
          <a:prstGeom prst="rect">
            <a:avLst/>
          </a:prstGeom>
          <a:ln w="22225">
            <a:solidFill>
              <a:srgbClr val="A7BEAE"/>
            </a:solidFill>
            <a:prstDash val="solid"/>
          </a:ln>
        </p:spPr>
      </p:sp>
      <p:sp>
        <p:nvSpPr>
          <p:cNvPr id="13" name="Text 8"/>
          <p:cNvSpPr txBox="1"/>
          <p:nvPr/>
        </p:nvSpPr>
        <p:spPr>
          <a:xfrm>
            <a:off x="7178040" y="6520410"/>
            <a:ext cx="4434840" cy="365760"/>
          </a:xfrm>
          <a:prstGeom prst="rect">
            <a:avLst/>
          </a:prstGeom>
          <a:noFill/>
          <a:ln/>
        </p:spPr>
        <p:txBody>
          <a:bodyPr wrap="square" lIns="0" tIns="0" rIns="0" bIns="0" rtlCol="0" anchor="ctr"/>
          <a:lstStyle/>
          <a:p>
            <a:pPr indent="0" marL="0">
              <a:lnSpc>
                <a:spcPts val="1400"/>
              </a:lnSpc>
              <a:buNone/>
            </a:pPr>
            <a:r>
              <a:rPr lang="en-US" sz="1100" i="1" dirty="0">
                <a:solidFill>
                  <a:srgbClr val="7A6A61"/>
                </a:solidFill>
                <a:latin typeface="Calibri" pitchFamily="34" charset="0"/>
                <a:ea typeface="Calibri" pitchFamily="34" charset="-122"/>
                <a:cs typeface="Calibri" pitchFamily="34" charset="-120"/>
              </a:rPr>
              <a:t>Whiteboard session for Class III &amp; V remedial batch</a:t>
            </a:r>
            <a:endParaRPr lang="en-US" sz="1100" dirty="0"/>
          </a:p>
        </p:txBody>
      </p:sp>
      <p:sp>
        <p:nvSpPr>
          <p:cNvPr id="14" name="Text 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A6A61"/>
                </a:solidFill>
                <a:latin typeface="Calibri" pitchFamily="34" charset="0"/>
                <a:ea typeface="Calibri" pitchFamily="34" charset="-122"/>
                <a:cs typeface="Calibri" pitchFamily="34" charset="-120"/>
              </a:rPr>
              <a:t>Community Teaching &amp; Social Outreach Programme</a:t>
            </a:r>
            <a:endParaRPr lang="en-US" sz="900" dirty="0"/>
          </a:p>
        </p:txBody>
      </p:sp>
      <p:sp>
        <p:nvSpPr>
          <p:cNvPr id="15" name="Text 10"/>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7A6A6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3241C"/>
        </a:solidFill>
      </p:bgPr>
    </p:bg>
    <p:spTree>
      <p:nvGrpSpPr>
        <p:cNvPr id="1" name=""/>
        <p:cNvGrpSpPr/>
        <p:nvPr/>
      </p:nvGrpSpPr>
      <p:grpSpPr>
        <a:xfrm>
          <a:off x="0" y="0"/>
          <a:ext cx="0" cy="0"/>
          <a:chOff x="0" y="0"/>
          <a:chExt cx="0" cy="0"/>
        </a:xfrm>
      </p:grpSpPr>
      <p:sp>
        <p:nvSpPr>
          <p:cNvPr id="2" name="Shape 0"/>
          <p:cNvSpPr/>
          <p:nvPr/>
        </p:nvSpPr>
        <p:spPr>
          <a:xfrm>
            <a:off x="-1463040" y="-1645920"/>
            <a:ext cx="4572000" cy="4572000"/>
          </a:xfrm>
          <a:prstGeom prst="ellipse">
            <a:avLst/>
          </a:prstGeom>
          <a:solidFill>
            <a:srgbClr val="43302A"/>
          </a:solidFill>
          <a:ln/>
        </p:spPr>
      </p:sp>
      <p:sp>
        <p:nvSpPr>
          <p:cNvPr id="3" name="Shape 1"/>
          <p:cNvSpPr/>
          <p:nvPr/>
        </p:nvSpPr>
        <p:spPr>
          <a:xfrm>
            <a:off x="9875520" y="4206240"/>
            <a:ext cx="4114800" cy="4114800"/>
          </a:xfrm>
          <a:prstGeom prst="ellipse">
            <a:avLst/>
          </a:prstGeom>
          <a:solidFill>
            <a:srgbClr val="43302A"/>
          </a:solidFill>
          <a:ln/>
        </p:spPr>
      </p:sp>
      <p:sp>
        <p:nvSpPr>
          <p:cNvPr id="4" name="Text 2"/>
          <p:cNvSpPr txBox="1"/>
          <p:nvPr/>
        </p:nvSpPr>
        <p:spPr>
          <a:xfrm>
            <a:off x="640080" y="777240"/>
            <a:ext cx="7315200" cy="365760"/>
          </a:xfrm>
          <a:prstGeom prst="rect">
            <a:avLst/>
          </a:prstGeom>
          <a:noFill/>
          <a:ln/>
        </p:spPr>
        <p:txBody>
          <a:bodyPr wrap="square" lIns="0" tIns="0" rIns="0" bIns="0" rtlCol="0" anchor="ctr"/>
          <a:lstStyle/>
          <a:p>
            <a:pPr indent="0" marL="0">
              <a:buNone/>
            </a:pPr>
            <a:r>
              <a:rPr lang="en-US" sz="1400" b="1" spc="300" kern="0" dirty="0">
                <a:solidFill>
                  <a:srgbClr val="B85042"/>
                </a:solidFill>
                <a:latin typeface="Calibri" pitchFamily="34" charset="0"/>
                <a:ea typeface="Calibri" pitchFamily="34" charset="-122"/>
                <a:cs typeface="Calibri" pitchFamily="34" charset="-120"/>
              </a:rPr>
              <a:t>CONCLUSION</a:t>
            </a:r>
            <a:endParaRPr lang="en-US" sz="1400" dirty="0"/>
          </a:p>
        </p:txBody>
      </p:sp>
      <p:sp>
        <p:nvSpPr>
          <p:cNvPr id="5" name="Text 3"/>
          <p:cNvSpPr txBox="1"/>
          <p:nvPr/>
        </p:nvSpPr>
        <p:spPr>
          <a:xfrm>
            <a:off x="621792" y="1143000"/>
            <a:ext cx="9601200" cy="155448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 truly enriching and</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eye-opening experience</a:t>
            </a:r>
            <a:endParaRPr lang="en-US" sz="3400" dirty="0"/>
          </a:p>
        </p:txBody>
      </p:sp>
      <p:sp>
        <p:nvSpPr>
          <p:cNvPr id="6" name="Shape 4"/>
          <p:cNvSpPr/>
          <p:nvPr/>
        </p:nvSpPr>
        <p:spPr>
          <a:xfrm>
            <a:off x="640080" y="2788920"/>
            <a:ext cx="640080" cy="64008"/>
          </a:xfrm>
          <a:prstGeom prst="roundRect">
            <a:avLst>
              <a:gd name="adj" fmla="val 50000"/>
            </a:avLst>
          </a:prstGeom>
          <a:solidFill>
            <a:srgbClr val="A7BEAE"/>
          </a:solidFill>
          <a:ln/>
        </p:spPr>
      </p:sp>
      <p:sp>
        <p:nvSpPr>
          <p:cNvPr id="7" name="Text 5"/>
          <p:cNvSpPr txBox="1"/>
          <p:nvPr/>
        </p:nvSpPr>
        <p:spPr>
          <a:xfrm>
            <a:off x="640080" y="3108960"/>
            <a:ext cx="6675120" cy="2194560"/>
          </a:xfrm>
          <a:prstGeom prst="rect">
            <a:avLst/>
          </a:prstGeom>
          <a:noFill/>
          <a:ln/>
        </p:spPr>
        <p:txBody>
          <a:bodyPr wrap="square" lIns="0" tIns="0" rIns="0" bIns="0" rtlCol="0" anchor="ctr"/>
          <a:lstStyle/>
          <a:p>
            <a:pPr indent="0" marL="0">
              <a:lnSpc>
                <a:spcPts val="2200"/>
              </a:lnSpc>
              <a:buNone/>
            </a:pPr>
            <a:r>
              <a:rPr lang="en-US" sz="1450" dirty="0">
                <a:solidFill>
                  <a:srgbClr val="F3EFE6"/>
                </a:solidFill>
                <a:latin typeface="Calibri" pitchFamily="34" charset="0"/>
                <a:ea typeface="Calibri" pitchFamily="34" charset="-122"/>
                <a:cs typeface="Calibri" pitchFamily="34" charset="-120"/>
              </a:rPr>
              <a:t>Working as a group to teach students of Classes 1st, 3rd and 5th allowed us to step outside the conventional technical scope of our degree and contribute meaningfully to society. It taught us that education is not just about delivering a fixed curriculum, but understanding each student's individual needs and helping them grow at their own pace.</a:t>
            </a:r>
            <a:endParaRPr lang="en-US" sz="1450" dirty="0"/>
          </a:p>
        </p:txBody>
      </p:sp>
      <p:sp>
        <p:nvSpPr>
          <p:cNvPr id="8" name="Text 6"/>
          <p:cNvSpPr txBox="1"/>
          <p:nvPr/>
        </p:nvSpPr>
        <p:spPr>
          <a:xfrm>
            <a:off x="640080" y="5394960"/>
            <a:ext cx="6675120" cy="1188720"/>
          </a:xfrm>
          <a:prstGeom prst="rect">
            <a:avLst/>
          </a:prstGeom>
          <a:noFill/>
          <a:ln/>
        </p:spPr>
        <p:txBody>
          <a:bodyPr wrap="square" lIns="0" tIns="0" rIns="0" bIns="0" rtlCol="0" anchor="ctr"/>
          <a:lstStyle/>
          <a:p>
            <a:pPr indent="0" marL="0">
              <a:lnSpc>
                <a:spcPts val="1800"/>
              </a:lnSpc>
              <a:buNone/>
            </a:pPr>
            <a:r>
              <a:rPr lang="en-US" sz="1250" i="1" dirty="0">
                <a:solidFill>
                  <a:srgbClr val="C9B8AE"/>
                </a:solidFill>
                <a:latin typeface="Calibri" pitchFamily="34" charset="0"/>
                <a:ea typeface="Calibri" pitchFamily="34" charset="-122"/>
                <a:cs typeface="Calibri" pitchFamily="34" charset="-120"/>
              </a:rPr>
              <a:t>Sincere thanks to Ms. Sarita, our NGO mentor, for her constant guidance and for the opportunity to be part of this joyful, rewarding experience — leaving a deeper sense of social responsibility and appreciation for the effort behind shaping young minds.</a:t>
            </a:r>
            <a:endParaRPr lang="en-US" sz="1250" dirty="0"/>
          </a:p>
        </p:txBody>
      </p:sp>
      <p:pic>
        <p:nvPicPr>
          <p:cNvPr id="9" name="Image 0" descr="assets/img-002.png">    </p:cNvPr>
          <p:cNvPicPr>
            <a:picLocks noChangeAspect="1"/>
          </p:cNvPicPr>
          <p:nvPr/>
        </p:nvPicPr>
        <p:blipFill>
          <a:blip r:embed="rId1"/>
          <a:stretch>
            <a:fillRect/>
          </a:stretch>
        </p:blipFill>
        <p:spPr>
          <a:xfrm>
            <a:off x="7589520" y="2743200"/>
            <a:ext cx="4023360" cy="1808773"/>
          </a:xfrm>
          <a:prstGeom prst="rect">
            <a:avLst/>
          </a:prstGeom>
        </p:spPr>
      </p:pic>
      <p:sp>
        <p:nvSpPr>
          <p:cNvPr id="10" name="Shape 7"/>
          <p:cNvSpPr/>
          <p:nvPr/>
        </p:nvSpPr>
        <p:spPr>
          <a:xfrm>
            <a:off x="7589520" y="2743200"/>
            <a:ext cx="4023360" cy="1808773"/>
          </a:xfrm>
          <a:prstGeom prst="rect">
            <a:avLst/>
          </a:prstGeom>
          <a:ln w="28575">
            <a:solidFill>
              <a:srgbClr val="B85042"/>
            </a:solidFill>
            <a:prstDash val="solid"/>
          </a:ln>
        </p:spPr>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C9B8AE"/>
                </a:solidFill>
                <a:latin typeface="Calibri" pitchFamily="34" charset="0"/>
                <a:ea typeface="Calibri" pitchFamily="34" charset="-122"/>
                <a:cs typeface="Calibri" pitchFamily="34" charset="-120"/>
              </a:rPr>
              <a:t>Community Teaching &amp; Social Outreach Programme</a:t>
            </a:r>
            <a:endParaRPr lang="en-US" sz="900" dirty="0"/>
          </a:p>
        </p:txBody>
      </p:sp>
      <p:sp>
        <p:nvSpPr>
          <p:cNvPr id="12" name="Text 9"/>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C9B8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2026-09-07T05:50:17Z</dcterms:created>
  <dcterms:modified xsi:type="dcterms:W3CDTF">2026-09-07T05:50:17Z</dcterms:modified>
</cp:coreProperties>
</file>